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16"/>
    <p:sldId id="258" r:id="rId4"/>
    <p:sldId id="259" r:id="rId5"/>
    <p:sldId id="260" r:id="rId6"/>
    <p:sldId id="261" r:id="rId7"/>
    <p:sldId id="267" r:id="rId18"/>
    <p:sldId id="268" r:id="rId19"/>
    <p:sldId id="269" r:id="rId20"/>
    <p:sldId id="270" r:id="rId21"/>
    <p:sldId id="271" r:id="rId22"/>
    <p:sldId id="272" r:id="rId23"/>
    <p:sldId id="273" r:id="rId24"/>
    <p:sldId id="274" r:id="rId25"/>
    <p:sldId id="266" r:id="rId17"/>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10" Type="http://schemas.openxmlformats.org/officeDocument/2006/relationships/slide" Target="slides/slide17.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3.xml"/><Relationship Id="rId17" Type="http://schemas.openxmlformats.org/officeDocument/2006/relationships/slide" Target="slides/slide16.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Grupo 1 y hoy presentamos la introducción a los árboles: qué son, cómo se llaman sus partes, cómo se diferencian el árbol general y el binario, y cómo se crea la clase Nodo en Java. Duración total: 2 horas. Primero empieza la dinámica de activación, antes de mostrar esta diapositiva si se prefiere.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activación: si guardamos en una lista las carpetas de un computador (Documentos, Universidad, Datos, Cálculo, Fotos), ¿se ve que unas están dentro de otras? No se ve. Una lista guarda los datos uno tras otro. Un árbol sí expresa quién cuelga de quién. Esta diapositiva acompaña el árbol humano: 7 voluntarios con tarjetas, uno es la raíz y los demás se enlazan como hijos. Preguntar: quién no tiene padre, quién no tiene hijos.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raíz es el nodo sin padre. Los nodos se unen por arcos. Una hoja es un nodo sin hijos. El grado es cuántos hijos tiene un nodo. En este árbol: A es la raíz y tiene grado 2; B es hijo de A y A es padre de B; las hojas son D, E y F. Tiempo sugerido: diapositivas 1 y 2 del guion, unos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nivel dice a qué distancia de la raíz está un nodo: A está en el nivel 0, B y C en el 1, D, E y F en el 2, G en el 3. La altura es el camino más largo de la raíz a una hoja. Contamos aristas: A a B, B a E, E a G son 3 aristas, así que la altura es 3. Confirmar con el docente la convención: otra forma cuenta niveles desde 1 y daría 4. Tiempo sugerido: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árbol general cada nodo puede tener cualquier cantidad de hijos: la raíz de la izquierda tiene tres. En el árbol binario cada nodo tiene máximo dos hijos, el izquierdo y el derecho. En este curso trabajamos con el binario. Tiempo sugerido: diapositivas 4 y 5 juntas, unos 6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nodo guarda un dato y dos enlaces: izquierdo y derecho. El constructor crea un nodo sin hijos, y esHoja pregunta si los dos enlaces son nulos. Si un enlace es null, ese hijo no existe. Esta diapositiva acompaña la demostración en VS Code: mostrar la clase completa con getters y setters desde el repositorio. Tiempo sugerido: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un árbol organiza datos con jerarquía. La raíz no tiene padre y las hojas no tienen hijos. El árbol binario usa dos enlaces por nodo. Pedir a dos compañeros que digan una conclusión en una frase. Tiempo: 5 minutos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los términos, la definición. Un árbol es una estructura jerárquica: tiene una raíz y todo nodo, menos la raíz, tiene exactamente un padre. Tiene dos propiedades: es conexo, porque desde la raíz se llega a todos los nodos, y no tiene ciclos, porque de la raíz a cada nodo hay un solo camino. Dicho como en grafos: entre dos vértices cualesquiera existe un único camino simple. En grafos se dice vértice y en árboles nodo, pero significan lo mismo. En el ejemplo de la izquierda de A a D hay un solo camino. En el de la derecha, de A a C hay dos caminos (A, C y A, B, C) por el enlace amarillo entre B y C, así que no es un árbol.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00000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enlace: ¿para qué sirve el árbol en nuestro proyecto final, SmartETL_DS? Cada integrante del grupo trabajó con su propio conjunto de datos; el mío fue el de aeropuertos, por eso uso ese ejemplo, pero la idea sirve para cualquier dato con un identificador. En el Hito 1 buscamos en una lista: para encontrar UKDM, el último de los 7.698 aeropuertos, hicimos 7.698 comparaciones. Buscar en una lista cuesta O(n). En el Hito 4A, el 13 de noviembre, construimos un árbol de búsqueda binaria (BST) con el ID del aeropuerto como clave. Un árbol equilibrado, con las ramas de alturas parecidas, necesita como máximo unas 13 comparaciones. El nodo es la misma idea de la lista: dato y enlaces. La lista usa un enlace, siguiente; el árbol usa dos, izquierdo y derecho. Cuidado: los IDs de airports.csv vienen en orden ascendente. Si se insertan en ese orden, cada nodo cuelga a la derecha y el árbol queda como una lista de 7.698 niveles, y la búsqueda vuelve a costar 7.698 comparaciones. Pregunta para el curso: ¿qué pasa si insertamos 1, 2, 3 y 4 en ese orden? La inserción y los recorridos los explica el Grupo 2. Mostrar esta diapositiva después del quiz, antes del resumen.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00000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Operaciones de Nodo con su diagrama de flujo. esHoja: pregunta si el enlace izquierdo y el derecho son null; si los dos lo son, devuelve true, y si no, false. grado: empieza con hijos en 0 y suma 1 por cada enlace que no sea null, así que el resultado es 0, 1 o 2. Mientras explicas cada flujo, muestra el método en VS Code.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00000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operaciones de las dos clases. Nodo está en la capa de modelo y guarda datos y enlaces. ArbolBinario está en la capa de negocio y opera sobre todo el árbol. La app, es decir Main, VistaArbol y el reto, solo usa a negocio, y negocio usa a modelo. Aclarar que los recorridos, la inserción en orden y la eliminación los explican los otros grupos.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00000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crearRaiz: si el árbol ya tiene raíz lanza un error; si no, crea el nodo y lo guarda como raíz. agregarIzquierdo: primero valida que el padre no sea null, después que el lugar izquierdo esté libre; si todo está bien crea el nodo nuevo, lo enlaza al padre y lo devuelve, para que quien llame pueda seguir colgando hijos de él. agregarDerecho es igual por el otro lado.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00000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operaciones son recursivas: cada llamada resuelve un subárbol más pequeño hasta llegar a null. contarNodos: si el nodo es null devuelve 0; si no, 1 más los nodos del hijo izquierdo y del derecho. contarHojas: si es null devuelve 0; si es una hoja devuelve 1; si no, suma las hojas de los dos hijos. Los estudiantes no escriben estas operaciones, solo las llaman.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00000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altura cuenta aristas. Si el nodo es null devuelve -1; así una hoja da 1 + max(-1, -1) = 0. Para un nodo con hijos, la altura es 1 más la mayor altura de sus dos hijos. Ejemplo con el árbol de la demostración: CUE mide 0, GYE mide 1 y UIO mide 2. Un árbol vacío mide -1 y un árbol de un solo nodo mide 0.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00000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Main en VS Code. Primero se crea el árbol vacío y se muestra que esVacio da true. Después se crea la raíz y se agregan los hijos, y VistaArbol dibuja el árbol después de cada paso. Al final se muestran contarNodos, contarHojas y altura, y el intento de agregar donde ya hay un hijo, que muestra el error. VistaArbol no se explica: solo dibuja. Esta diapositiva es el respaldo si falla la ejecución.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00000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reto. Trabajan en parejas o tríos solo en MainReto.java. Parte 1: construir el árbol A, 10 minutos. Parte 2: consultar raíz, nodos, hojas, altura y el grado de LTX y SNC, 8 minutos. Parte 3: armar el árbol B y escribir esCadena, 12 minutos. Reglas: solo Nodo y ArbolBinario, y está prohibido usar estructuras de java.util basadas en árboles. Casos límite: árbol vacío, un solo nodo y agregar donde ya hay un hijo. Recordar la trampa: en un árbol vacío la altura es -1 y los nodos son 0, así que hay que revisar esVacio primero. Pasear por los puestos mientras resuelven.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00000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dibujos que se entregan. Árbol A: raíz LTX, ATF a la izquierda con TUA e IBB, MCH a la derecha con SNC y OCC, y LGQ colgando a la izquierda de SNC. Resultados esperados: 8 nodos, 4 hojas, altura 3, grado de LTX 2 y grado de SNC 1. Árbol B: cinco nodos, cada uno con un solo hijo derecho, GPS, SCY, MRR, PTZ y TPN. Altura 4 con 5 nodos: es una cadena. Al comparar los dos, B se parece a una lista, y buscar en él cuesta recorrer todos los nodos. Mostrar la solución en el cierre del 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00000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1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1861"/>
            <a:ext cx="10566400" cy="4173339"/>
          </a:xfrm>
          <a:prstGeom prst="rect">
            <a:avLst/>
          </a:prstGeom>
          <a:noFill/>
          <a:ln/>
        </p:spPr>
        <p:txBody>
          <a:bodyPr wrap="square" lIns="0" tIns="0" rIns="0" bIns="0" rtlCol="0" anchor="t"/>
          <a:lstStyle>
            <a:lvl1pPr algn="l" indent="0" marL="0">
              <a:lnSpc>
                <a:spcPct val="140000"/>
              </a:lnSpc>
              <a:buNone/>
              <a:defRPr lang="en-US" sz="1600" dirty="0">
                <a:solidFill>
                  <a:srgbClr val="1226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1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1861"/>
            <a:ext cx="10566400" cy="4173339"/>
          </a:xfrm>
          <a:prstGeom prst="rect">
            <a:avLst/>
          </a:prstGeom>
          <a:noFill/>
          <a:ln/>
        </p:spPr>
        <p:txBody>
          <a:bodyPr wrap="square" lIns="0" tIns="0" rIns="0" bIns="0" rtlCol="0" anchor="t"/>
          <a:lstStyle>
            <a:lvl1pPr algn="l" indent="0" marL="0">
              <a:lnSpc>
                <a:spcPct val="140000"/>
              </a:lnSpc>
              <a:buNone/>
              <a:defRPr lang="en-US" sz="1600" dirty="0">
                <a:solidFill>
                  <a:srgbClr val="1226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F"/>
        </a:solidFill>
      </p:bgPr>
    </p:bg>
    <p:spTree>
      <p:nvGrpSpPr>
        <p:cNvPr id="1" name=""/>
        <p:cNvGrpSpPr/>
        <p:nvPr/>
      </p:nvGrpSpPr>
      <p:grpSpPr>
        <a:xfrm>
          <a:off x="0" y="0"/>
          <a:ext cx="0" cy="0"/>
          <a:chOff x="0" y="0"/>
          <a:chExt cx="0" cy="0"/>
        </a:xfrm>
      </p:grpSpPr>
      <p:sp>
        <p:nvSpPr>
          <p:cNvPr id="2" name="Text 0"/>
          <p:cNvSpPr/>
          <p:nvPr/>
        </p:nvSpPr>
        <p:spPr>
          <a:xfrm>
            <a:off x="812800" y="1290439"/>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3A33B"/>
                </a:solidFill>
                <a:latin typeface="DM Sans" pitchFamily="34" charset="0"/>
                <a:ea typeface="DM Sans" pitchFamily="34" charset="-122"/>
                <a:cs typeface="DM Sans" pitchFamily="34" charset="-120"/>
              </a:rPr>
              <a:t>ESTRUCTURA DE DATOS · UNIDAD 3</a:t>
            </a:r>
            <a:endParaRPr lang="en-US" sz="1400" dirty="0"/>
          </a:p>
        </p:txBody>
      </p:sp>
      <p:sp>
        <p:nvSpPr>
          <p:cNvPr id="3" name="Text 1"/>
          <p:cNvSpPr/>
          <p:nvPr>
            <p:ph type="title"/>
          </p:nvPr>
        </p:nvSpPr>
        <p:spPr>
          <a:xfrm>
            <a:off x="812800" y="1717080"/>
            <a:ext cx="654050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C"/>
                </a:solidFill>
                <a:latin typeface="DM Sans" pitchFamily="34" charset="0"/>
                <a:ea typeface="DM Sans" pitchFamily="34" charset="-122"/>
                <a:cs typeface="DM Sans" pitchFamily="34" charset="-120"/>
              </a:rPr>
              <a:t>Introducción a los árboles</a:t>
            </a:r>
            <a:endParaRPr lang="en-US" sz="5600" dirty="0"/>
          </a:p>
        </p:txBody>
      </p:sp>
      <p:sp>
        <p:nvSpPr>
          <p:cNvPr id="4" name="Text 2"/>
          <p:cNvSpPr/>
          <p:nvPr/>
        </p:nvSpPr>
        <p:spPr>
          <a:xfrm>
            <a:off x="812800" y="3388320"/>
            <a:ext cx="65405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D3CB"/>
                </a:solidFill>
                <a:latin typeface="DM Sans" pitchFamily="34" charset="0"/>
                <a:ea typeface="DM Sans" pitchFamily="34" charset="-122"/>
                <a:cs typeface="DM Sans" pitchFamily="34" charset="-120"/>
              </a:rPr>
              <a:t>Terminología, árbol general y árbol binario, y la clase Nodo</a:t>
            </a:r>
            <a:endParaRPr lang="en-US" sz="2000" dirty="0"/>
          </a:p>
        </p:txBody>
      </p:sp>
      <p:sp>
        <p:nvSpPr>
          <p:cNvPr id="5" name="Text 3"/>
          <p:cNvSpPr/>
          <p:nvPr/>
        </p:nvSpPr>
        <p:spPr>
          <a:xfrm>
            <a:off x="812800" y="4226520"/>
            <a:ext cx="65405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C"/>
                </a:solidFill>
                <a:latin typeface="DM Sans" pitchFamily="34" charset="0"/>
                <a:ea typeface="DM Sans" pitchFamily="34" charset="-122"/>
                <a:cs typeface="DM Sans" pitchFamily="34" charset="-120"/>
              </a:rPr>
              <a:t>Grupo 1 · Jueves 08/10/2026</a:t>
            </a:r>
            <a:endParaRPr lang="en-US" sz="1600" dirty="0"/>
          </a:p>
        </p:txBody>
      </p:sp>
      <p:sp>
        <p:nvSpPr>
          <p:cNvPr id="6" name="Text 4"/>
          <p:cNvSpPr/>
          <p:nvPr/>
        </p:nvSpPr>
        <p:spPr>
          <a:xfrm>
            <a:off x="812800" y="4688780"/>
            <a:ext cx="654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DM Sans" pitchFamily="34" charset="0"/>
                <a:ea typeface="DM Sans" pitchFamily="34" charset="-122"/>
                <a:cs typeface="DM Sans" pitchFamily="34" charset="-120"/>
              </a:rPr>
              <a:t>Docente: José Rubén Caiza Caizabuano · UTA FISEI, Software, Nivel III</a:t>
            </a:r>
            <a:endParaRPr lang="en-US" sz="1400" dirty="0"/>
          </a:p>
        </p:txBody>
      </p:sp>
      <p:sp>
        <p:nvSpPr>
          <p:cNvPr id="7" name="Text 5"/>
          <p:cNvSpPr/>
          <p:nvPr/>
        </p:nvSpPr>
        <p:spPr>
          <a:xfrm>
            <a:off x="812800" y="5115421"/>
            <a:ext cx="654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DM Sans" pitchFamily="34" charset="0"/>
                <a:ea typeface="DM Sans" pitchFamily="34" charset="-122"/>
                <a:cs typeface="DM Sans" pitchFamily="34" charset="-120"/>
              </a:rPr>
              <a:t>[Integrantes del Grupo 1]</a:t>
            </a:r>
            <a:endParaRPr lang="en-US" sz="1400" dirty="0"/>
          </a:p>
        </p:txBody>
      </p:sp>
      <p:pic>
        <p:nvPicPr>
          <p:cNvPr id="8" name="Image 0" descr="connector">    </p:cNvPr>
          <p:cNvPicPr>
            <a:picLocks noChangeAspect="1"/>
          </p:cNvPicPr>
          <p:nvPr/>
        </p:nvPicPr>
        <p:blipFill>
          <a:blip r:embed="rId1"/>
          <a:srcRect l="0" r="0" t="0" b="0"/>
          <a:stretch/>
        </p:blipFill>
        <p:spPr>
          <a:xfrm>
            <a:off x="8559800" y="1955800"/>
            <a:ext cx="1041400" cy="1295400"/>
          </a:xfrm>
          <a:prstGeom prst="rect">
            <a:avLst/>
          </a:prstGeom>
        </p:spPr>
      </p:pic>
      <p:pic>
        <p:nvPicPr>
          <p:cNvPr id="9" name="Image 1" descr="connector">    </p:cNvPr>
          <p:cNvPicPr>
            <a:picLocks noChangeAspect="1"/>
          </p:cNvPicPr>
          <p:nvPr/>
        </p:nvPicPr>
        <p:blipFill>
          <a:blip r:embed="rId2"/>
          <a:srcRect l="0" r="0" t="0" b="0"/>
          <a:stretch/>
        </p:blipFill>
        <p:spPr>
          <a:xfrm>
            <a:off x="9448800" y="1955800"/>
            <a:ext cx="1041400" cy="1295400"/>
          </a:xfrm>
          <a:prstGeom prst="rect">
            <a:avLst/>
          </a:prstGeom>
        </p:spPr>
      </p:pic>
      <p:pic>
        <p:nvPicPr>
          <p:cNvPr id="10" name="Image 2" descr="connector">    </p:cNvPr>
          <p:cNvPicPr>
            <a:picLocks noChangeAspect="1"/>
          </p:cNvPicPr>
          <p:nvPr/>
        </p:nvPicPr>
        <p:blipFill>
          <a:blip r:embed="rId3"/>
          <a:srcRect l="0" r="0" t="0" b="0"/>
          <a:stretch/>
        </p:blipFill>
        <p:spPr>
          <a:xfrm>
            <a:off x="7988300" y="3098800"/>
            <a:ext cx="723900" cy="1295400"/>
          </a:xfrm>
          <a:prstGeom prst="rect">
            <a:avLst/>
          </a:prstGeom>
        </p:spPr>
      </p:pic>
      <p:pic>
        <p:nvPicPr>
          <p:cNvPr id="11" name="Image 3" descr="connector">    </p:cNvPr>
          <p:cNvPicPr>
            <a:picLocks noChangeAspect="1"/>
          </p:cNvPicPr>
          <p:nvPr/>
        </p:nvPicPr>
        <p:blipFill>
          <a:blip r:embed="rId4"/>
          <a:srcRect l="0" r="0" t="0" b="0"/>
          <a:stretch/>
        </p:blipFill>
        <p:spPr>
          <a:xfrm>
            <a:off x="8559800" y="3098800"/>
            <a:ext cx="723900" cy="1295400"/>
          </a:xfrm>
          <a:prstGeom prst="rect">
            <a:avLst/>
          </a:prstGeom>
        </p:spPr>
      </p:pic>
      <p:pic>
        <p:nvPicPr>
          <p:cNvPr id="12" name="Image 4" descr="connector">    </p:cNvPr>
          <p:cNvPicPr>
            <a:picLocks noChangeAspect="1"/>
          </p:cNvPicPr>
          <p:nvPr/>
        </p:nvPicPr>
        <p:blipFill>
          <a:blip r:embed="rId5"/>
          <a:srcRect l="0" r="0" t="0" b="0"/>
          <a:stretch/>
        </p:blipFill>
        <p:spPr>
          <a:xfrm>
            <a:off x="10337800" y="3098800"/>
            <a:ext cx="723900" cy="1295400"/>
          </a:xfrm>
          <a:prstGeom prst="rect">
            <a:avLst/>
          </a:prstGeom>
        </p:spPr>
      </p:pic>
      <p:sp>
        <p:nvSpPr>
          <p:cNvPr id="13" name="Shape 6"/>
          <p:cNvSpPr/>
          <p:nvPr/>
        </p:nvSpPr>
        <p:spPr>
          <a:xfrm>
            <a:off x="9220200" y="1727200"/>
            <a:ext cx="609600" cy="609600"/>
          </a:xfrm>
          <a:prstGeom prst="roundRect">
            <a:avLst>
              <a:gd name="adj" fmla="val 50000"/>
            </a:avLst>
          </a:prstGeom>
          <a:solidFill>
            <a:srgbClr val="E3A33B"/>
          </a:solidFill>
          <a:ln/>
        </p:spPr>
        <p:txBody>
          <a:bodyPr/>
          <a:p/>
        </p:txBody>
      </p:sp>
      <p:sp>
        <p:nvSpPr>
          <p:cNvPr id="14" name="Shape 7"/>
          <p:cNvSpPr/>
          <p:nvPr/>
        </p:nvSpPr>
        <p:spPr>
          <a:xfrm>
            <a:off x="8331200" y="2870200"/>
            <a:ext cx="609600" cy="609600"/>
          </a:xfrm>
          <a:prstGeom prst="roundRect">
            <a:avLst>
              <a:gd name="adj" fmla="val 50000"/>
            </a:avLst>
          </a:prstGeom>
          <a:solidFill>
            <a:srgbClr val="1F7A66"/>
          </a:solidFill>
          <a:ln/>
        </p:spPr>
        <p:txBody>
          <a:bodyPr/>
          <a:p/>
        </p:txBody>
      </p:sp>
      <p:sp>
        <p:nvSpPr>
          <p:cNvPr id="15" name="Shape 8"/>
          <p:cNvSpPr/>
          <p:nvPr/>
        </p:nvSpPr>
        <p:spPr>
          <a:xfrm>
            <a:off x="10109200" y="2870200"/>
            <a:ext cx="609600" cy="609600"/>
          </a:xfrm>
          <a:prstGeom prst="roundRect">
            <a:avLst>
              <a:gd name="adj" fmla="val 50000"/>
            </a:avLst>
          </a:prstGeom>
          <a:solidFill>
            <a:srgbClr val="1F7A66"/>
          </a:solidFill>
          <a:ln/>
        </p:spPr>
        <p:txBody>
          <a:bodyPr/>
          <a:p/>
        </p:txBody>
      </p:sp>
      <p:sp>
        <p:nvSpPr>
          <p:cNvPr id="16" name="Shape 9"/>
          <p:cNvSpPr/>
          <p:nvPr/>
        </p:nvSpPr>
        <p:spPr>
          <a:xfrm>
            <a:off x="7772400" y="4025900"/>
            <a:ext cx="584200" cy="584200"/>
          </a:xfrm>
          <a:prstGeom prst="roundRect">
            <a:avLst>
              <a:gd name="adj" fmla="val 50000"/>
            </a:avLst>
          </a:prstGeom>
          <a:solidFill>
            <a:srgbClr val="2D5546"/>
          </a:solidFill>
          <a:ln w="25400">
            <a:solidFill>
              <a:srgbClr val="5FB59E"/>
            </a:solidFill>
            <a:prstDash val="solid"/>
          </a:ln>
        </p:spPr>
        <p:txBody>
          <a:bodyPr/>
          <a:p/>
        </p:txBody>
      </p:sp>
      <p:sp>
        <p:nvSpPr>
          <p:cNvPr id="17" name="Shape 10"/>
          <p:cNvSpPr/>
          <p:nvPr/>
        </p:nvSpPr>
        <p:spPr>
          <a:xfrm>
            <a:off x="8915400" y="4025900"/>
            <a:ext cx="584200" cy="584200"/>
          </a:xfrm>
          <a:prstGeom prst="roundRect">
            <a:avLst>
              <a:gd name="adj" fmla="val 50000"/>
            </a:avLst>
          </a:prstGeom>
          <a:solidFill>
            <a:srgbClr val="2D5546"/>
          </a:solidFill>
          <a:ln w="25400">
            <a:solidFill>
              <a:srgbClr val="5FB59E"/>
            </a:solidFill>
            <a:prstDash val="solid"/>
          </a:ln>
        </p:spPr>
        <p:txBody>
          <a:bodyPr/>
          <a:p/>
        </p:txBody>
      </p:sp>
      <p:sp>
        <p:nvSpPr>
          <p:cNvPr id="18" name="Shape 11"/>
          <p:cNvSpPr/>
          <p:nvPr/>
        </p:nvSpPr>
        <p:spPr>
          <a:xfrm>
            <a:off x="10693400" y="4025900"/>
            <a:ext cx="584200" cy="584200"/>
          </a:xfrm>
          <a:prstGeom prst="roundRect">
            <a:avLst>
              <a:gd name="adj" fmla="val 50000"/>
            </a:avLst>
          </a:prstGeom>
          <a:solidFill>
            <a:srgbClr val="2D5546"/>
          </a:solidFill>
          <a:ln w="25400">
            <a:solidFill>
              <a:srgbClr val="5FB59E"/>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EL PROBLEMA</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La jerarquía en los datos</a:t>
            </a:r>
            <a:endParaRPr lang="en-US" sz="3200" dirty="0"/>
          </a:p>
        </p:txBody>
      </p:sp>
      <p:sp>
        <p:nvSpPr>
          <p:cNvPr id="4" name="Shape 2"/>
          <p:cNvSpPr/>
          <p:nvPr/>
        </p:nvSpPr>
        <p:spPr>
          <a:xfrm>
            <a:off x="819150" y="1911350"/>
            <a:ext cx="4813300" cy="3797300"/>
          </a:xfrm>
          <a:prstGeom prst="roundRect">
            <a:avLst>
              <a:gd name="adj" fmla="val 3846"/>
            </a:avLst>
          </a:prstGeom>
          <a:solidFill>
            <a:srgbClr val="FFFDF7"/>
          </a:solidFill>
          <a:ln w="12700">
            <a:solidFill>
              <a:srgbClr val="D9D6C8"/>
            </a:solidFill>
            <a:prstDash val="solid"/>
          </a:ln>
        </p:spPr>
        <p:txBody>
          <a:bodyPr/>
          <a:p/>
        </p:txBody>
      </p:sp>
      <p:sp>
        <p:nvSpPr>
          <p:cNvPr id="5" name="Text 3"/>
          <p:cNvSpPr/>
          <p:nvPr/>
        </p:nvSpPr>
        <p:spPr>
          <a:xfrm>
            <a:off x="1079500" y="2171700"/>
            <a:ext cx="442137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2261F"/>
                </a:solidFill>
                <a:latin typeface="DM Sans" pitchFamily="34" charset="0"/>
                <a:ea typeface="DM Sans" pitchFamily="34" charset="-122"/>
                <a:cs typeface="DM Sans" pitchFamily="34" charset="-120"/>
              </a:rPr>
              <a:t>Como lista</a:t>
            </a:r>
            <a:endParaRPr lang="en-US" sz="1800" dirty="0"/>
          </a:p>
        </p:txBody>
      </p:sp>
      <p:sp>
        <p:nvSpPr>
          <p:cNvPr id="6" name="Text 4"/>
          <p:cNvSpPr/>
          <p:nvPr/>
        </p:nvSpPr>
        <p:spPr>
          <a:xfrm>
            <a:off x="1079500" y="2580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Documentos</a:t>
            </a:r>
            <a:endParaRPr lang="en-US" sz="1500" dirty="0"/>
          </a:p>
        </p:txBody>
      </p:sp>
      <p:sp>
        <p:nvSpPr>
          <p:cNvPr id="7" name="Text 5"/>
          <p:cNvSpPr/>
          <p:nvPr/>
        </p:nvSpPr>
        <p:spPr>
          <a:xfrm>
            <a:off x="1079500" y="3088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Universidad</a:t>
            </a:r>
            <a:endParaRPr lang="en-US" sz="1500" dirty="0"/>
          </a:p>
        </p:txBody>
      </p:sp>
      <p:sp>
        <p:nvSpPr>
          <p:cNvPr id="8" name="Text 6"/>
          <p:cNvSpPr/>
          <p:nvPr/>
        </p:nvSpPr>
        <p:spPr>
          <a:xfrm>
            <a:off x="1079500" y="3596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Datos</a:t>
            </a:r>
            <a:endParaRPr lang="en-US" sz="1500" dirty="0"/>
          </a:p>
        </p:txBody>
      </p:sp>
      <p:sp>
        <p:nvSpPr>
          <p:cNvPr id="9" name="Text 7"/>
          <p:cNvSpPr/>
          <p:nvPr/>
        </p:nvSpPr>
        <p:spPr>
          <a:xfrm>
            <a:off x="1079500" y="4104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Cálculo</a:t>
            </a:r>
            <a:endParaRPr lang="en-US" sz="1500" dirty="0"/>
          </a:p>
        </p:txBody>
      </p:sp>
      <p:sp>
        <p:nvSpPr>
          <p:cNvPr id="10" name="Text 8"/>
          <p:cNvSpPr/>
          <p:nvPr/>
        </p:nvSpPr>
        <p:spPr>
          <a:xfrm>
            <a:off x="1079500" y="4612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Fotos</a:t>
            </a:r>
            <a:endParaRPr lang="en-US" sz="1500" dirty="0"/>
          </a:p>
        </p:txBody>
      </p:sp>
      <p:sp>
        <p:nvSpPr>
          <p:cNvPr id="11" name="Text 9"/>
          <p:cNvSpPr/>
          <p:nvPr/>
        </p:nvSpPr>
        <p:spPr>
          <a:xfrm>
            <a:off x="1079500" y="5120580"/>
            <a:ext cx="44213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DM Sans" pitchFamily="34" charset="0"/>
                <a:ea typeface="DM Sans" pitchFamily="34" charset="-122"/>
                <a:cs typeface="DM Sans" pitchFamily="34" charset="-120"/>
              </a:rPr>
              <a:t>No se ve qué carpeta está dentro de cuál.</a:t>
            </a:r>
            <a:endParaRPr lang="en-US" sz="1300" dirty="0"/>
          </a:p>
        </p:txBody>
      </p:sp>
      <p:sp>
        <p:nvSpPr>
          <p:cNvPr id="12" name="Shape 10"/>
          <p:cNvSpPr/>
          <p:nvPr/>
        </p:nvSpPr>
        <p:spPr>
          <a:xfrm>
            <a:off x="5899150" y="1911350"/>
            <a:ext cx="5473700" cy="3797300"/>
          </a:xfrm>
          <a:prstGeom prst="roundRect">
            <a:avLst>
              <a:gd name="adj" fmla="val 3846"/>
            </a:avLst>
          </a:prstGeom>
          <a:solidFill>
            <a:srgbClr val="FFFDF7"/>
          </a:solidFill>
          <a:ln w="12700">
            <a:solidFill>
              <a:srgbClr val="D9D6C8"/>
            </a:solidFill>
            <a:prstDash val="solid"/>
          </a:ln>
        </p:spPr>
        <p:txBody>
          <a:bodyPr/>
          <a:p/>
        </p:txBody>
      </p:sp>
      <p:sp>
        <p:nvSpPr>
          <p:cNvPr id="13" name="Text 11"/>
          <p:cNvSpPr/>
          <p:nvPr/>
        </p:nvSpPr>
        <p:spPr>
          <a:xfrm>
            <a:off x="6146800" y="2159000"/>
            <a:ext cx="3924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2261F"/>
                </a:solidFill>
                <a:latin typeface="DM Sans" pitchFamily="34" charset="0"/>
                <a:ea typeface="DM Sans" pitchFamily="34" charset="-122"/>
                <a:cs typeface="DM Sans" pitchFamily="34" charset="-120"/>
              </a:rPr>
              <a:t>Como árbol</a:t>
            </a:r>
            <a:endParaRPr lang="en-US" sz="1800" dirty="0"/>
          </a:p>
        </p:txBody>
      </p:sp>
      <p:pic>
        <p:nvPicPr>
          <p:cNvPr id="14" name="Image 0" descr="connector">    </p:cNvPr>
          <p:cNvPicPr>
            <a:picLocks noChangeAspect="1"/>
          </p:cNvPicPr>
          <p:nvPr/>
        </p:nvPicPr>
        <p:blipFill>
          <a:blip r:embed="rId1"/>
          <a:srcRect l="0" r="0" t="0" b="0"/>
          <a:stretch/>
        </p:blipFill>
        <p:spPr>
          <a:xfrm>
            <a:off x="7461250" y="3009900"/>
            <a:ext cx="1238250" cy="800100"/>
          </a:xfrm>
          <a:prstGeom prst="rect">
            <a:avLst/>
          </a:prstGeom>
        </p:spPr>
      </p:pic>
      <p:pic>
        <p:nvPicPr>
          <p:cNvPr id="15" name="Image 1" descr="connector">    </p:cNvPr>
          <p:cNvPicPr>
            <a:picLocks noChangeAspect="1"/>
          </p:cNvPicPr>
          <p:nvPr/>
        </p:nvPicPr>
        <p:blipFill>
          <a:blip r:embed="rId2"/>
          <a:srcRect l="0" r="0" t="0" b="0"/>
          <a:stretch/>
        </p:blipFill>
        <p:spPr>
          <a:xfrm>
            <a:off x="8572500" y="3009900"/>
            <a:ext cx="1397000" cy="800100"/>
          </a:xfrm>
          <a:prstGeom prst="rect">
            <a:avLst/>
          </a:prstGeom>
        </p:spPr>
      </p:pic>
      <p:pic>
        <p:nvPicPr>
          <p:cNvPr id="16" name="Image 2" descr="connector">    </p:cNvPr>
          <p:cNvPicPr>
            <a:picLocks noChangeAspect="1"/>
          </p:cNvPicPr>
          <p:nvPr/>
        </p:nvPicPr>
        <p:blipFill>
          <a:blip r:embed="rId3"/>
          <a:srcRect l="0" r="0" t="0" b="0"/>
          <a:stretch/>
        </p:blipFill>
        <p:spPr>
          <a:xfrm>
            <a:off x="6826250" y="4089400"/>
            <a:ext cx="762000" cy="800100"/>
          </a:xfrm>
          <a:prstGeom prst="rect">
            <a:avLst/>
          </a:prstGeom>
        </p:spPr>
      </p:pic>
      <p:pic>
        <p:nvPicPr>
          <p:cNvPr id="17" name="Image 3" descr="connector">    </p:cNvPr>
          <p:cNvPicPr>
            <a:picLocks noChangeAspect="1"/>
          </p:cNvPicPr>
          <p:nvPr/>
        </p:nvPicPr>
        <p:blipFill>
          <a:blip r:embed="rId4"/>
          <a:srcRect l="0" r="0" t="0" b="0"/>
          <a:stretch/>
        </p:blipFill>
        <p:spPr>
          <a:xfrm>
            <a:off x="7461250" y="4089400"/>
            <a:ext cx="762000" cy="800100"/>
          </a:xfrm>
          <a:prstGeom prst="rect">
            <a:avLst/>
          </a:prstGeom>
        </p:spPr>
      </p:pic>
      <p:sp>
        <p:nvSpPr>
          <p:cNvPr id="18" name="Text 12"/>
          <p:cNvSpPr/>
          <p:nvPr/>
        </p:nvSpPr>
        <p:spPr>
          <a:xfrm>
            <a:off x="7816850" y="2673350"/>
            <a:ext cx="1638300" cy="393700"/>
          </a:xfrm>
          <a:prstGeom prst="roundRect">
            <a:avLst>
              <a:gd name="adj" fmla="val 20968"/>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FFFDF7"/>
                </a:solidFill>
                <a:latin typeface="DM Sans" pitchFamily="34" charset="0"/>
                <a:ea typeface="DM Sans" pitchFamily="34" charset="-122"/>
                <a:cs typeface="DM Sans" pitchFamily="34" charset="-120"/>
              </a:rPr>
              <a:t>Documentos</a:t>
            </a:r>
            <a:endParaRPr lang="en-US" sz="1400" dirty="0"/>
          </a:p>
        </p:txBody>
      </p:sp>
      <p:sp>
        <p:nvSpPr>
          <p:cNvPr id="19" name="Text 13"/>
          <p:cNvSpPr/>
          <p:nvPr/>
        </p:nvSpPr>
        <p:spPr>
          <a:xfrm>
            <a:off x="6832600" y="3752850"/>
            <a:ext cx="13843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Universidad</a:t>
            </a:r>
            <a:endParaRPr lang="en-US" sz="1400" dirty="0"/>
          </a:p>
        </p:txBody>
      </p:sp>
      <p:sp>
        <p:nvSpPr>
          <p:cNvPr id="20" name="Text 14"/>
          <p:cNvSpPr/>
          <p:nvPr/>
        </p:nvSpPr>
        <p:spPr>
          <a:xfrm>
            <a:off x="9277350" y="3752850"/>
            <a:ext cx="12573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Fotos</a:t>
            </a:r>
            <a:endParaRPr lang="en-US" sz="1400" dirty="0"/>
          </a:p>
        </p:txBody>
      </p:sp>
      <p:sp>
        <p:nvSpPr>
          <p:cNvPr id="21" name="Text 15"/>
          <p:cNvSpPr/>
          <p:nvPr/>
        </p:nvSpPr>
        <p:spPr>
          <a:xfrm>
            <a:off x="6292850" y="4832350"/>
            <a:ext cx="11938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Datos</a:t>
            </a:r>
            <a:endParaRPr lang="en-US" sz="1400" dirty="0"/>
          </a:p>
        </p:txBody>
      </p:sp>
      <p:sp>
        <p:nvSpPr>
          <p:cNvPr id="22" name="Text 16"/>
          <p:cNvSpPr/>
          <p:nvPr/>
        </p:nvSpPr>
        <p:spPr>
          <a:xfrm>
            <a:off x="7562850" y="4832350"/>
            <a:ext cx="11938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Cálculo</a:t>
            </a:r>
            <a:endParaRPr lang="en-US" sz="1400" dirty="0"/>
          </a:p>
        </p:txBody>
      </p:sp>
      <p:sp>
        <p:nvSpPr>
          <p:cNvPr id="23" name="Text 17"/>
          <p:cNvSpPr/>
          <p:nvPr/>
        </p:nvSpPr>
        <p:spPr>
          <a:xfrm>
            <a:off x="6146800" y="5372100"/>
            <a:ext cx="512775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DM Sans" pitchFamily="34" charset="0"/>
                <a:ea typeface="DM Sans" pitchFamily="34" charset="-122"/>
                <a:cs typeface="DM Sans" pitchFamily="34" charset="-120"/>
              </a:rPr>
              <a:t>Cada carpeta cuelga de una sola carpeta.</a:t>
            </a:r>
            <a:endParaRPr lang="en-US" sz="1300" dirty="0"/>
          </a:p>
        </p:txBody>
      </p:sp>
      <p:sp>
        <p:nvSpPr>
          <p:cNvPr id="24"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5"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finicion">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CONCEPTOS</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¿Qué es un árbol?</a:t>
            </a:r>
            <a:endParaRPr lang="es-EC" sz="3200" dirty="0"/>
          </a:p>
        </p:txBody>
      </p:sp>
      <p:sp>
        <p:nvSpPr>
          <p:cNvPr id="4" name="Definicion"/>
          <p:cNvSpPr/>
          <p:nvPr/>
        </p:nvSpPr>
        <p:spPr>
          <a:xfrm>
            <a:off x="812800" y="1900000"/>
            <a:ext cx="5200000" cy="1300000"/>
          </a:xfrm>
          <a:prstGeom prst="rect">
            <a:avLst/>
          </a:prstGeom>
          <a:noFill/>
          <a:ln/>
        </p:spPr>
        <p:txBody>
          <a:bodyPr wrap="square" lIns="0" tIns="0" rIns="0" bIns="0" rtlCol="0" anchor="t">
            <a:normAutofit/>
          </a:bodyPr>
          <a:lstStyle/>
          <a:p>
            <a:pPr algn="l" indent="0" marL="0">
              <a:lnSpc>
                <a:spcPts val="2800"/>
              </a:lnSpc>
              <a:buNone/>
            </a:pPr>
            <a:r>
              <a:rPr lang="es-EC" sz="2000" dirty="0">
                <a:solidFill>
                  <a:srgbClr val="12261F"/>
                </a:solidFill>
                <a:latin typeface="DM Sans" pitchFamily="34" charset="0"/>
                <a:ea typeface="DM Sans" pitchFamily="34" charset="-122"/>
                <a:cs typeface="DM Sans" pitchFamily="34" charset="-120"/>
              </a:rPr>
              <a:t>Un árbol es una </a:t>
            </a:r>
            <a:r>
              <a:rPr lang="es-EC" sz="2000" b="1" dirty="0">
                <a:solidFill>
                  <a:srgbClr val="1F7A66"/>
                </a:solidFill>
                <a:latin typeface="DM Sans" pitchFamily="34" charset="0"/>
                <a:ea typeface="DM Sans" pitchFamily="34" charset="-122"/>
                <a:cs typeface="DM Sans" pitchFamily="34" charset="-120"/>
              </a:rPr>
              <a:t>estructura jerárquica</a:t>
            </a:r>
            <a:r>
              <a:rPr lang="es-EC" sz="2000" dirty="0">
                <a:solidFill>
                  <a:srgbClr val="12261F"/>
                </a:solidFill>
                <a:latin typeface="DM Sans" pitchFamily="34" charset="0"/>
                <a:ea typeface="DM Sans" pitchFamily="34" charset="-122"/>
                <a:cs typeface="DM Sans" pitchFamily="34" charset="-120"/>
              </a:rPr>
              <a:t>: tiene una raíz, y todo nodo, menos la raíz, tiene exactamente un padre.</a:t>
            </a:r>
            <a:endParaRPr lang="es-EC" sz="2000" dirty="0"/>
          </a:p>
        </p:txBody>
      </p:sp>
      <p:sp>
        <p:nvSpPr>
          <p:cNvPr id="5" name="Propiedad Conexo"/>
          <p:cNvSpPr/>
          <p:nvPr/>
        </p:nvSpPr>
        <p:spPr>
          <a:xfrm>
            <a:off x="812800" y="3350000"/>
            <a:ext cx="5200000" cy="780000"/>
          </a:xfrm>
          <a:prstGeom prst="roundRect">
            <a:avLst>
              <a:gd name="adj" fmla="val 10000"/>
            </a:avLst>
          </a:prstGeom>
          <a:solidFill>
            <a:srgbClr val="FFFDF7"/>
          </a:solidFill>
          <a:ln w="12700">
            <a:solidFill>
              <a:srgbClr val="1F7A66"/>
            </a:solidFill>
            <a:prstDash val="solid"/>
          </a:ln>
        </p:spPr>
        <p:txBody>
          <a:bodyPr wrap="square" lIns="200000" tIns="60000" rIns="120000" bIns="60000" rtlCol="0" anchor="ctr">
            <a:normAutofit/>
          </a:bodyPr>
          <a:lstStyle/>
          <a:p>
            <a:pPr algn="l" indent="0" marL="0">
              <a:lnSpc>
                <a:spcPts val="2240"/>
              </a:lnSpc>
              <a:buNone/>
            </a:pPr>
            <a:r>
              <a:rPr lang="es-EC" sz="1600" b="1" dirty="0">
                <a:solidFill>
                  <a:srgbClr val="1F7A66"/>
                </a:solidFill>
                <a:latin typeface="DM Sans" pitchFamily="34" charset="0"/>
                <a:ea typeface="DM Sans" pitchFamily="34" charset="-122"/>
                <a:cs typeface="DM Sans" pitchFamily="34" charset="-120"/>
              </a:rPr>
              <a:t>Conexo</a:t>
            </a:r>
            <a:endParaRPr lang="es-EC" sz="1600" dirty="0"/>
          </a:p>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Desde la raíz se llega a todos los nodos.</a:t>
            </a:r>
            <a:endParaRPr lang="es-EC" sz="1500" dirty="0"/>
          </a:p>
        </p:txBody>
      </p:sp>
      <p:sp>
        <p:nvSpPr>
          <p:cNvPr id="6" name="Propiedad Sin ciclos"/>
          <p:cNvSpPr/>
          <p:nvPr/>
        </p:nvSpPr>
        <p:spPr>
          <a:xfrm>
            <a:off x="812800" y="4280000"/>
            <a:ext cx="5200000" cy="780000"/>
          </a:xfrm>
          <a:prstGeom prst="roundRect">
            <a:avLst>
              <a:gd name="adj" fmla="val 10000"/>
            </a:avLst>
          </a:prstGeom>
          <a:solidFill>
            <a:srgbClr val="FFFDF7"/>
          </a:solidFill>
          <a:ln w="12700">
            <a:solidFill>
              <a:srgbClr val="1F7A66"/>
            </a:solidFill>
            <a:prstDash val="solid"/>
          </a:ln>
        </p:spPr>
        <p:txBody>
          <a:bodyPr wrap="square" lIns="200000" tIns="60000" rIns="120000" bIns="60000" rtlCol="0" anchor="ctr">
            <a:normAutofit/>
          </a:bodyPr>
          <a:lstStyle/>
          <a:p>
            <a:pPr algn="l" indent="0" marL="0">
              <a:lnSpc>
                <a:spcPts val="2240"/>
              </a:lnSpc>
              <a:buNone/>
            </a:pPr>
            <a:r>
              <a:rPr lang="es-EC" sz="1600" b="1" dirty="0">
                <a:solidFill>
                  <a:srgbClr val="1F7A66"/>
                </a:solidFill>
                <a:latin typeface="DM Sans" pitchFamily="34" charset="0"/>
                <a:ea typeface="DM Sans" pitchFamily="34" charset="-122"/>
                <a:cs typeface="DM Sans" pitchFamily="34" charset="-120"/>
              </a:rPr>
              <a:t>Sin ciclos</a:t>
            </a:r>
            <a:endParaRPr lang="es-EC" sz="1600" dirty="0"/>
          </a:p>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De la raíz a cada nodo hay un solo camino.</a:t>
            </a:r>
            <a:endParaRPr lang="es-EC" sz="1500" dirty="0"/>
          </a:p>
        </p:txBody>
      </p:sp>
      <p:sp>
        <p:nvSpPr>
          <p:cNvPr id="7" name="Nota vertice"/>
          <p:cNvSpPr/>
          <p:nvPr/>
        </p:nvSpPr>
        <p:spPr>
          <a:xfrm>
            <a:off x="812800" y="5300000"/>
            <a:ext cx="5200000" cy="6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5A6A64"/>
                </a:solidFill>
                <a:latin typeface="DM Sans" pitchFamily="34" charset="0"/>
                <a:ea typeface="DM Sans" pitchFamily="34" charset="-122"/>
                <a:cs typeface="DM Sans" pitchFamily="34" charset="-120"/>
              </a:rPr>
              <a:t>En grafos se dice vértice: nodo y vértice significan lo mismo.</a:t>
            </a:r>
            <a:endParaRPr lang="es-EC" sz="1400" dirty="0"/>
          </a:p>
        </p:txBody>
      </p:sp>
      <p:sp>
        <p:nvSpPr>
          <p:cNvPr id="8" name="Tarjeta si"/>
          <p:cNvSpPr/>
          <p:nvPr/>
        </p:nvSpPr>
        <p:spPr>
          <a:xfrm>
            <a:off x="6500000" y="1900000"/>
            <a:ext cx="2498096" cy="35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Tarjeta no"/>
          <p:cNvSpPr/>
          <p:nvPr/>
        </p:nvSpPr>
        <p:spPr>
          <a:xfrm>
            <a:off x="9198096" y="1900000"/>
            <a:ext cx="2498096" cy="3500000"/>
          </a:xfrm>
          <a:prstGeom prst="roundRect">
            <a:avLst>
              <a:gd name="adj" fmla="val 5000"/>
            </a:avLst>
          </a:prstGeom>
          <a:solidFill>
            <a:srgbClr val="FFFDF7"/>
          </a:solidFill>
          <a:ln w="12700">
            <a:solidFill>
              <a:srgbClr val="5A6A64"/>
            </a:solidFill>
            <a:prstDash val="dash"/>
          </a:ln>
        </p:spPr>
        <p:txBody>
          <a:bodyPr wrap="square" lIns="0" tIns="0" rIns="0" bIns="0" rtlCol="0" anchor="t">
            <a:normAutofit/>
          </a:bodyPr>
          <a:lstStyle/>
          <a:p>
            <a:endParaRPr lang="es-EC" dirty="0"/>
          </a:p>
        </p:txBody>
      </p:sp>
      <p:sp>
        <p:nvSpPr>
          <p:cNvPr id="10" name="Cabecera si"/>
          <p:cNvSpPr/>
          <p:nvPr/>
        </p:nvSpPr>
        <p:spPr>
          <a:xfrm>
            <a:off x="6500000" y="2030000"/>
            <a:ext cx="2498096" cy="300000"/>
          </a:xfrm>
          <a:prstGeom prst="rect">
            <a:avLst/>
          </a:prstGeom>
          <a:noFill/>
          <a:ln/>
        </p:spPr>
        <p:txBody>
          <a:bodyPr wrap="square" lIns="0" tIns="0" rIns="0" bIns="0" rtlCol="0" anchor="t">
            <a:normAutofit/>
          </a:bodyPr>
          <a:lstStyle/>
          <a:p>
            <a:pPr algn="ctr" indent="0" marL="0">
              <a:lnSpc>
                <a:spcPts val="2100"/>
              </a:lnSpc>
              <a:buNone/>
            </a:pPr>
            <a:r>
              <a:rPr lang="es-EC" sz="1500" b="1" dirty="0">
                <a:solidFill>
                  <a:srgbClr val="1F7A66"/>
                </a:solidFill>
                <a:latin typeface="DM Sans" pitchFamily="34" charset="0"/>
                <a:ea typeface="DM Sans" pitchFamily="34" charset="-122"/>
                <a:cs typeface="DM Sans" pitchFamily="34" charset="-120"/>
              </a:rPr>
              <a:t>Sí es árbol</a:t>
            </a:r>
            <a:endParaRPr lang="es-EC" sz="1500" dirty="0"/>
          </a:p>
        </p:txBody>
      </p:sp>
      <p:sp>
        <p:nvSpPr>
          <p:cNvPr id="11" name="Cabecera no"/>
          <p:cNvSpPr/>
          <p:nvPr/>
        </p:nvSpPr>
        <p:spPr>
          <a:xfrm>
            <a:off x="9198096" y="2030000"/>
            <a:ext cx="2498096" cy="300000"/>
          </a:xfrm>
          <a:prstGeom prst="rect">
            <a:avLst/>
          </a:prstGeom>
          <a:noFill/>
          <a:ln/>
        </p:spPr>
        <p:txBody>
          <a:bodyPr wrap="square" lIns="0" tIns="0" rIns="0" bIns="0" rtlCol="0" anchor="t">
            <a:normAutofit/>
          </a:bodyPr>
          <a:lstStyle/>
          <a:p>
            <a:pPr algn="ctr" indent="0" marL="0">
              <a:lnSpc>
                <a:spcPts val="2100"/>
              </a:lnSpc>
              <a:buNone/>
            </a:pPr>
            <a:r>
              <a:rPr lang="es-EC" sz="1500" b="1" dirty="0">
                <a:solidFill>
                  <a:srgbClr val="4A5A54"/>
                </a:solidFill>
                <a:latin typeface="DM Sans" pitchFamily="34" charset="0"/>
                <a:ea typeface="DM Sans" pitchFamily="34" charset="-122"/>
                <a:cs typeface="DM Sans" pitchFamily="34" charset="-120"/>
              </a:rPr>
              <a:t>No es árbol</a:t>
            </a:r>
            <a:endParaRPr lang="es-EC" sz="1500" dirty="0"/>
          </a:p>
        </p:txBody>
      </p:sp>
      <p:cxnSp>
        <p:nvCxnSpPr>
          <p:cNvPr id="12" name="Arco A-B"/>
          <p:cNvCxnSpPr/>
          <p:nvPr/>
        </p:nvCxnSpPr>
        <p:spPr>
          <a:xfrm flipH="1">
            <a:off x="7149048" y="2800000"/>
            <a:ext cx="600000" cy="800000"/>
          </a:xfrm>
          <a:prstGeom prst="line">
            <a:avLst/>
          </a:prstGeom>
          <a:ln w="19050">
            <a:solidFill>
              <a:srgbClr val="1F7A66"/>
            </a:solidFill>
            <a:prstDash val="solid"/>
          </a:ln>
        </p:spPr>
      </p:cxnSp>
      <p:cxnSp>
        <p:nvCxnSpPr>
          <p:cNvPr id="13" name="Arco A-C"/>
          <p:cNvCxnSpPr/>
          <p:nvPr/>
        </p:nvCxnSpPr>
        <p:spPr>
          <a:xfrm>
            <a:off x="7749048" y="2800000"/>
            <a:ext cx="600000" cy="800000"/>
          </a:xfrm>
          <a:prstGeom prst="line">
            <a:avLst/>
          </a:prstGeom>
          <a:ln w="19050">
            <a:solidFill>
              <a:srgbClr val="1F7A66"/>
            </a:solidFill>
            <a:prstDash val="solid"/>
          </a:ln>
        </p:spPr>
      </p:cxnSp>
      <p:cxnSp>
        <p:nvCxnSpPr>
          <p:cNvPr id="14" name="Arco B-D"/>
          <p:cNvCxnSpPr/>
          <p:nvPr/>
        </p:nvCxnSpPr>
        <p:spPr>
          <a:xfrm>
            <a:off x="7149048" y="3600000"/>
            <a:ext cx="0" cy="800000"/>
          </a:xfrm>
          <a:prstGeom prst="line">
            <a:avLst/>
          </a:prstGeom>
          <a:ln w="19050">
            <a:solidFill>
              <a:srgbClr val="1F7A66"/>
            </a:solidFill>
            <a:prstDash val="solid"/>
          </a:ln>
        </p:spPr>
      </p:cxnSp>
      <p:sp>
        <p:nvSpPr>
          <p:cNvPr id="15" name="Nodo A"/>
          <p:cNvSpPr/>
          <p:nvPr/>
        </p:nvSpPr>
        <p:spPr>
          <a:xfrm>
            <a:off x="7489048" y="2540000"/>
            <a:ext cx="520000" cy="52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FFFDF7"/>
                </a:solidFill>
                <a:latin typeface="DM Sans" pitchFamily="34" charset="0"/>
                <a:ea typeface="DM Sans" pitchFamily="34" charset="-122"/>
                <a:cs typeface="DM Sans" pitchFamily="34" charset="-120"/>
              </a:rPr>
              <a:t>A</a:t>
            </a:r>
            <a:endParaRPr lang="es-EC" sz="1600" dirty="0"/>
          </a:p>
        </p:txBody>
      </p:sp>
      <p:sp>
        <p:nvSpPr>
          <p:cNvPr id="16" name="Nodo B"/>
          <p:cNvSpPr/>
          <p:nvPr/>
        </p:nvSpPr>
        <p:spPr>
          <a:xfrm>
            <a:off x="6889048"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B</a:t>
            </a:r>
            <a:endParaRPr lang="es-EC" sz="1600" dirty="0"/>
          </a:p>
        </p:txBody>
      </p:sp>
      <p:sp>
        <p:nvSpPr>
          <p:cNvPr id="17" name="Nodo C"/>
          <p:cNvSpPr/>
          <p:nvPr/>
        </p:nvSpPr>
        <p:spPr>
          <a:xfrm>
            <a:off x="8089048"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C</a:t>
            </a:r>
            <a:endParaRPr lang="es-EC" sz="1600" dirty="0"/>
          </a:p>
        </p:txBody>
      </p:sp>
      <p:sp>
        <p:nvSpPr>
          <p:cNvPr id="18" name="Nodo D"/>
          <p:cNvSpPr/>
          <p:nvPr/>
        </p:nvSpPr>
        <p:spPr>
          <a:xfrm>
            <a:off x="6889048" y="41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D</a:t>
            </a:r>
            <a:endParaRPr lang="es-EC" sz="1600" dirty="0"/>
          </a:p>
        </p:txBody>
      </p:sp>
      <p:cxnSp>
        <p:nvCxnSpPr>
          <p:cNvPr id="19" name="Arco A-B"/>
          <p:cNvCxnSpPr/>
          <p:nvPr/>
        </p:nvCxnSpPr>
        <p:spPr>
          <a:xfrm flipH="1">
            <a:off x="9847144" y="2800000"/>
            <a:ext cx="600000" cy="800000"/>
          </a:xfrm>
          <a:prstGeom prst="line">
            <a:avLst/>
          </a:prstGeom>
          <a:ln w="19050">
            <a:solidFill>
              <a:srgbClr val="1F7A66"/>
            </a:solidFill>
            <a:prstDash val="solid"/>
          </a:ln>
        </p:spPr>
      </p:cxnSp>
      <p:cxnSp>
        <p:nvCxnSpPr>
          <p:cNvPr id="20" name="Arco A-C"/>
          <p:cNvCxnSpPr/>
          <p:nvPr/>
        </p:nvCxnSpPr>
        <p:spPr>
          <a:xfrm>
            <a:off x="10447144" y="2800000"/>
            <a:ext cx="600000" cy="800000"/>
          </a:xfrm>
          <a:prstGeom prst="line">
            <a:avLst/>
          </a:prstGeom>
          <a:ln w="19050">
            <a:solidFill>
              <a:srgbClr val="1F7A66"/>
            </a:solidFill>
            <a:prstDash val="solid"/>
          </a:ln>
        </p:spPr>
      </p:cxnSp>
      <p:cxnSp>
        <p:nvCxnSpPr>
          <p:cNvPr id="21" name="Arco B-D"/>
          <p:cNvCxnSpPr/>
          <p:nvPr/>
        </p:nvCxnSpPr>
        <p:spPr>
          <a:xfrm>
            <a:off x="9847144" y="3600000"/>
            <a:ext cx="0" cy="800000"/>
          </a:xfrm>
          <a:prstGeom prst="line">
            <a:avLst/>
          </a:prstGeom>
          <a:ln w="19050">
            <a:solidFill>
              <a:srgbClr val="1F7A66"/>
            </a:solidFill>
            <a:prstDash val="solid"/>
          </a:ln>
        </p:spPr>
      </p:cxnSp>
      <p:cxnSp>
        <p:nvCxnSpPr>
          <p:cNvPr id="22" name="Arco B-C"/>
          <p:cNvCxnSpPr/>
          <p:nvPr/>
        </p:nvCxnSpPr>
        <p:spPr>
          <a:xfrm>
            <a:off x="9847144" y="3600000"/>
            <a:ext cx="1200000" cy="0"/>
          </a:xfrm>
          <a:prstGeom prst="line">
            <a:avLst/>
          </a:prstGeom>
          <a:ln w="38100">
            <a:solidFill>
              <a:srgbClr val="E3A33B"/>
            </a:solidFill>
            <a:prstDash val="solid"/>
          </a:ln>
        </p:spPr>
      </p:cxnSp>
      <p:sp>
        <p:nvSpPr>
          <p:cNvPr id="23" name="Nodo A"/>
          <p:cNvSpPr/>
          <p:nvPr/>
        </p:nvSpPr>
        <p:spPr>
          <a:xfrm>
            <a:off x="10187144" y="2540000"/>
            <a:ext cx="520000" cy="52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FFFDF7"/>
                </a:solidFill>
                <a:latin typeface="DM Sans" pitchFamily="34" charset="0"/>
                <a:ea typeface="DM Sans" pitchFamily="34" charset="-122"/>
                <a:cs typeface="DM Sans" pitchFamily="34" charset="-120"/>
              </a:rPr>
              <a:t>A</a:t>
            </a:r>
            <a:endParaRPr lang="es-EC" sz="1600" dirty="0"/>
          </a:p>
        </p:txBody>
      </p:sp>
      <p:sp>
        <p:nvSpPr>
          <p:cNvPr id="24" name="Nodo B"/>
          <p:cNvSpPr/>
          <p:nvPr/>
        </p:nvSpPr>
        <p:spPr>
          <a:xfrm>
            <a:off x="9587144"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B</a:t>
            </a:r>
            <a:endParaRPr lang="es-EC" sz="1600" dirty="0"/>
          </a:p>
        </p:txBody>
      </p:sp>
      <p:sp>
        <p:nvSpPr>
          <p:cNvPr id="25" name="Nodo C"/>
          <p:cNvSpPr/>
          <p:nvPr/>
        </p:nvSpPr>
        <p:spPr>
          <a:xfrm>
            <a:off x="10787144"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C</a:t>
            </a:r>
            <a:endParaRPr lang="es-EC" sz="1600" dirty="0"/>
          </a:p>
        </p:txBody>
      </p:sp>
      <p:sp>
        <p:nvSpPr>
          <p:cNvPr id="26" name="Nodo D"/>
          <p:cNvSpPr/>
          <p:nvPr/>
        </p:nvSpPr>
        <p:spPr>
          <a:xfrm>
            <a:off x="9587144" y="41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D</a:t>
            </a:r>
            <a:endParaRPr lang="es-EC" sz="1600" dirty="0"/>
          </a:p>
        </p:txBody>
      </p:sp>
      <p:sp>
        <p:nvSpPr>
          <p:cNvPr id="27" name="Leyenda si"/>
          <p:cNvSpPr/>
          <p:nvPr/>
        </p:nvSpPr>
        <p:spPr>
          <a:xfrm>
            <a:off x="6620000" y="4850000"/>
            <a:ext cx="2258096" cy="480000"/>
          </a:xfrm>
          <a:prstGeom prst="rect">
            <a:avLst/>
          </a:prstGeom>
          <a:noFill/>
          <a:ln/>
        </p:spPr>
        <p:txBody>
          <a:bodyPr wrap="square" lIns="0" tIns="0" rIns="0" bIns="0" rtlCol="0" anchor="t">
            <a:normAutofit/>
          </a:bodyPr>
          <a:lstStyle/>
          <a:p>
            <a:pPr algn="ctr" indent="0" marL="0">
              <a:lnSpc>
                <a:spcPts val="1820"/>
              </a:lnSpc>
              <a:buNone/>
            </a:pPr>
            <a:r>
              <a:rPr lang="es-EC" sz="1300" dirty="0">
                <a:solidFill>
                  <a:srgbClr val="4A5A54"/>
                </a:solidFill>
                <a:latin typeface="DM Sans" pitchFamily="34" charset="0"/>
                <a:ea typeface="DM Sans" pitchFamily="34" charset="-122"/>
                <a:cs typeface="DM Sans" pitchFamily="34" charset="-120"/>
              </a:rPr>
              <a:t>De A a D hay un solo camino</a:t>
            </a:r>
            <a:endParaRPr lang="es-EC" sz="1300" dirty="0"/>
          </a:p>
        </p:txBody>
      </p:sp>
      <p:sp>
        <p:nvSpPr>
          <p:cNvPr id="28" name="Leyenda no"/>
          <p:cNvSpPr/>
          <p:nvPr/>
        </p:nvSpPr>
        <p:spPr>
          <a:xfrm>
            <a:off x="9318096" y="4850000"/>
            <a:ext cx="2258096" cy="480000"/>
          </a:xfrm>
          <a:prstGeom prst="rect">
            <a:avLst/>
          </a:prstGeom>
          <a:noFill/>
          <a:ln/>
        </p:spPr>
        <p:txBody>
          <a:bodyPr wrap="square" lIns="0" tIns="0" rIns="0" bIns="0" rtlCol="0" anchor="t">
            <a:normAutofit/>
          </a:bodyPr>
          <a:lstStyle/>
          <a:p>
            <a:pPr algn="ctr" indent="0" marL="0">
              <a:lnSpc>
                <a:spcPts val="1820"/>
              </a:lnSpc>
              <a:buNone/>
            </a:pPr>
            <a:r>
              <a:rPr lang="es-EC" sz="1300" dirty="0">
                <a:solidFill>
                  <a:srgbClr val="4A5A54"/>
                </a:solidFill>
                <a:latin typeface="DM Sans" pitchFamily="34" charset="0"/>
                <a:ea typeface="DM Sans" pitchFamily="34" charset="-122"/>
                <a:cs typeface="DM Sans" pitchFamily="34" charset="-120"/>
              </a:rPr>
              <a:t>De A a C hay dos caminos: A, C y A, B, C</a:t>
            </a:r>
            <a:endParaRPr lang="es-EC" sz="1300" dirty="0"/>
          </a:p>
        </p:txBody>
      </p:sp>
      <p:sp>
        <p:nvSpPr>
          <p:cNvPr id="29"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0"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3 / 17</a:t>
            </a:r>
            <a:endParaRPr lang="es-EC"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Terminología básica</a:t>
            </a:r>
            <a:endParaRPr lang="en-US" sz="3200" dirty="0"/>
          </a:p>
        </p:txBody>
      </p:sp>
      <p:pic>
        <p:nvPicPr>
          <p:cNvPr id="4" name="Image 0" descr="connector">    </p:cNvPr>
          <p:cNvPicPr>
            <a:picLocks noChangeAspect="1"/>
          </p:cNvPicPr>
          <p:nvPr/>
        </p:nvPicPr>
        <p:blipFill>
          <a:blip r:embed="rId1"/>
          <a:srcRect l="0" r="0" t="0" b="0"/>
          <a:stretch/>
        </p:blipFill>
        <p:spPr>
          <a:xfrm>
            <a:off x="1866900" y="2476500"/>
            <a:ext cx="1143000" cy="1270000"/>
          </a:xfrm>
          <a:prstGeom prst="rect">
            <a:avLst/>
          </a:prstGeom>
        </p:spPr>
      </p:pic>
      <p:pic>
        <p:nvPicPr>
          <p:cNvPr id="5" name="Image 1" descr="connector">    </p:cNvPr>
          <p:cNvPicPr>
            <a:picLocks noChangeAspect="1"/>
          </p:cNvPicPr>
          <p:nvPr/>
        </p:nvPicPr>
        <p:blipFill>
          <a:blip r:embed="rId2"/>
          <a:srcRect l="0" r="0" t="0" b="0"/>
          <a:stretch/>
        </p:blipFill>
        <p:spPr>
          <a:xfrm>
            <a:off x="2882900" y="2476500"/>
            <a:ext cx="1143000" cy="1270000"/>
          </a:xfrm>
          <a:prstGeom prst="rect">
            <a:avLst/>
          </a:prstGeom>
        </p:spPr>
      </p:pic>
      <p:pic>
        <p:nvPicPr>
          <p:cNvPr id="6" name="Image 2" descr="connector">    </p:cNvPr>
          <p:cNvPicPr>
            <a:picLocks noChangeAspect="1"/>
          </p:cNvPicPr>
          <p:nvPr/>
        </p:nvPicPr>
        <p:blipFill>
          <a:blip r:embed="rId3"/>
          <a:srcRect l="0" r="0" t="0" b="0"/>
          <a:stretch/>
        </p:blipFill>
        <p:spPr>
          <a:xfrm>
            <a:off x="1358900" y="3619500"/>
            <a:ext cx="635000" cy="1270000"/>
          </a:xfrm>
          <a:prstGeom prst="rect">
            <a:avLst/>
          </a:prstGeom>
        </p:spPr>
      </p:pic>
      <p:pic>
        <p:nvPicPr>
          <p:cNvPr id="7" name="Image 3" descr="connector">    </p:cNvPr>
          <p:cNvPicPr>
            <a:picLocks noChangeAspect="1"/>
          </p:cNvPicPr>
          <p:nvPr/>
        </p:nvPicPr>
        <p:blipFill>
          <a:blip r:embed="rId4"/>
          <a:srcRect l="0" r="0" t="0" b="0"/>
          <a:stretch/>
        </p:blipFill>
        <p:spPr>
          <a:xfrm>
            <a:off x="1866900" y="3619500"/>
            <a:ext cx="635000" cy="1270000"/>
          </a:xfrm>
          <a:prstGeom prst="rect">
            <a:avLst/>
          </a:prstGeom>
        </p:spPr>
      </p:pic>
      <p:pic>
        <p:nvPicPr>
          <p:cNvPr id="8" name="Image 4" descr="connector">    </p:cNvPr>
          <p:cNvPicPr>
            <a:picLocks noChangeAspect="1"/>
          </p:cNvPicPr>
          <p:nvPr/>
        </p:nvPicPr>
        <p:blipFill>
          <a:blip r:embed="rId5"/>
          <a:srcRect l="0" r="0" t="0" b="0"/>
          <a:stretch/>
        </p:blipFill>
        <p:spPr>
          <a:xfrm>
            <a:off x="3898900" y="3619500"/>
            <a:ext cx="635000" cy="1270000"/>
          </a:xfrm>
          <a:prstGeom prst="rect">
            <a:avLst/>
          </a:prstGeom>
        </p:spPr>
      </p:pic>
      <p:sp>
        <p:nvSpPr>
          <p:cNvPr id="9" name="Text 2"/>
          <p:cNvSpPr/>
          <p:nvPr/>
        </p:nvSpPr>
        <p:spPr>
          <a:xfrm>
            <a:off x="2676525" y="2270125"/>
            <a:ext cx="539750" cy="5397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FFFDF7"/>
                </a:solidFill>
                <a:latin typeface="DM Sans" pitchFamily="34" charset="0"/>
                <a:ea typeface="DM Sans" pitchFamily="34" charset="-122"/>
                <a:cs typeface="DM Sans" pitchFamily="34" charset="-120"/>
              </a:rPr>
              <a:t>A</a:t>
            </a:r>
            <a:endParaRPr lang="en-US" sz="1800" dirty="0"/>
          </a:p>
        </p:txBody>
      </p:sp>
      <p:sp>
        <p:nvSpPr>
          <p:cNvPr id="10" name="Text 3"/>
          <p:cNvSpPr/>
          <p:nvPr/>
        </p:nvSpPr>
        <p:spPr>
          <a:xfrm>
            <a:off x="1660525" y="3413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B</a:t>
            </a:r>
            <a:endParaRPr lang="en-US" sz="1800" dirty="0"/>
          </a:p>
        </p:txBody>
      </p:sp>
      <p:sp>
        <p:nvSpPr>
          <p:cNvPr id="11" name="Text 4"/>
          <p:cNvSpPr/>
          <p:nvPr/>
        </p:nvSpPr>
        <p:spPr>
          <a:xfrm>
            <a:off x="3692525" y="3413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C</a:t>
            </a:r>
            <a:endParaRPr lang="en-US" sz="1800" dirty="0"/>
          </a:p>
        </p:txBody>
      </p:sp>
      <p:sp>
        <p:nvSpPr>
          <p:cNvPr id="12" name="Text 5"/>
          <p:cNvSpPr/>
          <p:nvPr/>
        </p:nvSpPr>
        <p:spPr>
          <a:xfrm>
            <a:off x="1152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D</a:t>
            </a:r>
            <a:endParaRPr lang="en-US" sz="1800" dirty="0"/>
          </a:p>
        </p:txBody>
      </p:sp>
      <p:sp>
        <p:nvSpPr>
          <p:cNvPr id="13" name="Text 6"/>
          <p:cNvSpPr/>
          <p:nvPr/>
        </p:nvSpPr>
        <p:spPr>
          <a:xfrm>
            <a:off x="2168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E</a:t>
            </a:r>
            <a:endParaRPr lang="en-US" sz="1800" dirty="0"/>
          </a:p>
        </p:txBody>
      </p:sp>
      <p:sp>
        <p:nvSpPr>
          <p:cNvPr id="14" name="Text 7"/>
          <p:cNvSpPr/>
          <p:nvPr/>
        </p:nvSpPr>
        <p:spPr>
          <a:xfrm>
            <a:off x="4200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F</a:t>
            </a:r>
            <a:endParaRPr lang="en-US" sz="1800" dirty="0"/>
          </a:p>
        </p:txBody>
      </p:sp>
      <p:sp>
        <p:nvSpPr>
          <p:cNvPr id="15" name="Text 8"/>
          <p:cNvSpPr/>
          <p:nvPr/>
        </p:nvSpPr>
        <p:spPr>
          <a:xfrm>
            <a:off x="3327400" y="2406650"/>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raíz</a:t>
            </a:r>
            <a:endParaRPr lang="en-US" sz="1500" dirty="0"/>
          </a:p>
        </p:txBody>
      </p:sp>
      <p:sp>
        <p:nvSpPr>
          <p:cNvPr id="16" name="Text 9"/>
          <p:cNvSpPr/>
          <p:nvPr/>
        </p:nvSpPr>
        <p:spPr>
          <a:xfrm>
            <a:off x="1346200" y="2971800"/>
            <a:ext cx="876300" cy="274241"/>
          </a:xfrm>
          <a:prstGeom prst="rect">
            <a:avLst/>
          </a:prstGeom>
          <a:noFill/>
          <a:ln/>
        </p:spPr>
        <p:txBody>
          <a:bodyPr wrap="square" lIns="0" tIns="0" rIns="0" bIns="0" rtlCol="0" anchor="t">
            <a:normAutofit/>
          </a:bodyPr>
          <a:lstStyle/>
          <a:p>
            <a:pPr algn="r" indent="0" marL="0">
              <a:lnSpc>
                <a:spcPts val="1960"/>
              </a:lnSpc>
              <a:buNone/>
            </a:pPr>
            <a:r>
              <a:rPr lang="en-US" sz="1400" i="1" dirty="0">
                <a:solidFill>
                  <a:srgbClr val="4A5A54"/>
                </a:solidFill>
                <a:latin typeface="DM Sans" pitchFamily="34" charset="0"/>
                <a:ea typeface="DM Sans" pitchFamily="34" charset="-122"/>
                <a:cs typeface="DM Sans" pitchFamily="34" charset="-120"/>
              </a:rPr>
              <a:t>arco</a:t>
            </a:r>
            <a:endParaRPr lang="en-US" sz="1400" dirty="0"/>
          </a:p>
        </p:txBody>
      </p:sp>
      <p:sp>
        <p:nvSpPr>
          <p:cNvPr id="17" name="Text 10"/>
          <p:cNvSpPr/>
          <p:nvPr/>
        </p:nvSpPr>
        <p:spPr>
          <a:xfrm>
            <a:off x="748792" y="5308600"/>
            <a:ext cx="439521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hojas: D, E y F</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00700" y="1917700"/>
          <a:ext cx="5778500" cy="2889250"/>
        </p:xfrm>
        <a:graphic>
          <a:graphicData uri="http://schemas.openxmlformats.org/drawingml/2006/table">
            <a:tbl>
              <a:tblPr/>
              <a:tblGrid>
                <a:gridCol w="1733550"/>
                <a:gridCol w="4044950"/>
              </a:tblGrid>
              <a:tr h="412750">
                <a:tc>
                  <a:txBody>
                    <a:bodyPr/>
                    <a:lstStyle/>
                    <a:p>
                      <a:pPr indent="0" marL="0">
                        <a:lnSpc>
                          <a:spcPts val="2100"/>
                        </a:lnSpc>
                        <a:buNone/>
                      </a:pPr>
                      <a:r>
                        <a:rPr lang="en-US" sz="1500" b="1" dirty="0">
                          <a:solidFill>
                            <a:srgbClr val="F6F4EC"/>
                          </a:solidFill>
                          <a:latin typeface="DM Sans" pitchFamily="34" charset="0"/>
                          <a:ea typeface="DM Sans" pitchFamily="34" charset="-122"/>
                          <a:cs typeface="DM Sans" pitchFamily="34" charset="-120"/>
                        </a:rPr>
                        <a:t>Término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6B5AF"/>
                      </a:solidFill>
                      <a:prstDash val="solid"/>
                      <a:round/>
                      <a:headEnd type="none" w="med" len="med"/>
                      <a:tailEnd type="none" w="med" len="med"/>
                    </a:lnR>
                    <a:lnT w="12700" cap="flat" cmpd="sng" algn="ctr">
                      <a:solidFill>
                        <a:srgbClr val="C4C3BC"/>
                      </a:solidFill>
                      <a:prstDash val="solid"/>
                      <a:round/>
                      <a:headEnd type="none" w="med" len="med"/>
                      <a:tailEnd type="none" w="med" len="med"/>
                    </a:lnT>
                    <a:lnB w="12700" cap="flat" cmpd="sng" algn="ctr">
                      <a:solidFill>
                        <a:srgbClr val="B6B5AF"/>
                      </a:solidFill>
                      <a:prstDash val="solid"/>
                      <a:round/>
                      <a:headEnd type="none" w="med" len="med"/>
                      <a:tailEnd type="none" w="med" len="med"/>
                    </a:lnB>
                    <a:solidFill>
                      <a:srgbClr val="E4E2DB"/>
                    </a:solidFill>
                  </a:tcPr>
                </a:tc>
                <a:tc>
                  <a:txBody>
                    <a:bodyPr/>
                    <a:lstStyle/>
                    <a:p>
                      <a:pPr indent="0" marL="0">
                        <a:lnSpc>
                          <a:spcPts val="2100"/>
                        </a:lnSpc>
                        <a:buNone/>
                      </a:pPr>
                      <a:r>
                        <a:rPr lang="en-US" sz="1500" b="1" dirty="0">
                          <a:solidFill>
                            <a:srgbClr val="F6F4EC"/>
                          </a:solidFill>
                          <a:latin typeface="DM Sans" pitchFamily="34" charset="0"/>
                          <a:ea typeface="DM Sans" pitchFamily="34" charset="-122"/>
                          <a:cs typeface="DM Sans" pitchFamily="34" charset="-120"/>
                        </a:rPr>
                        <a:t>Significado</a:t>
                      </a:r>
                      <a:endParaRPr lang="en-US" sz="1500" dirty="0">
                        <a:latin typeface="DM Sans" charset="0"/>
                        <a:ea typeface="DM Sans" charset="0"/>
                        <a:cs typeface="DM Sans" charset="0"/>
                      </a:endParaRPr>
                    </a:p>
                  </a:txBody>
                  <a:tcPr marL="66675" marR="66675" marT="66675" marB="66675" anchor="t">
                    <a:lnL w="12700" cap="flat" cmpd="sng" algn="ctr">
                      <a:solidFill>
                        <a:srgbClr val="B6B5AF"/>
                      </a:solidFill>
                      <a:prstDash val="solid"/>
                      <a:round/>
                      <a:headEnd type="none" w="med" len="med"/>
                      <a:tailEnd type="none" w="med" len="med"/>
                    </a:lnL>
                    <a:lnR w="12700" cap="flat" cmpd="sng" algn="ctr">
                      <a:solidFill>
                        <a:srgbClr val="B6B5AF"/>
                      </a:solidFill>
                      <a:prstDash val="solid"/>
                      <a:round/>
                      <a:headEnd type="none" w="med" len="med"/>
                      <a:tailEnd type="none" w="med" len="med"/>
                    </a:lnR>
                    <a:lnT w="12700" cap="flat" cmpd="sng" algn="ctr">
                      <a:solidFill>
                        <a:srgbClr val="C4C3BC"/>
                      </a:solidFill>
                      <a:prstDash val="solid"/>
                      <a:round/>
                      <a:headEnd type="none" w="med" len="med"/>
                      <a:tailEnd type="none" w="med" len="med"/>
                    </a:lnT>
                    <a:lnB w="12700" cap="flat" cmpd="sng" algn="ctr">
                      <a:solidFill>
                        <a:srgbClr val="B6B5AF"/>
                      </a:solidFill>
                      <a:prstDash val="solid"/>
                      <a:round/>
                      <a:headEnd type="none" w="med" len="med"/>
                      <a:tailEnd type="none" w="med" len="med"/>
                    </a:lnB>
                    <a:solidFill>
                      <a:srgbClr val="E4E2DB"/>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Raíz</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6B5AF"/>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 sin padre (A)</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6B5AF"/>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Elemento que guarda un dato</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Arco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Enlace entre padre e hijo</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Padre e hijo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B es hijo de A</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Hoja</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 sin hijos (D, E, F)</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Grado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Cantidad de hijos (A: 2)</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bl>
          </a:graphicData>
        </a:graphic>
      </p:graphicFrame>
      <p:sp>
        <p:nvSpPr>
          <p:cNvPr id="19"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0"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Nivel y altura</a:t>
            </a:r>
            <a:endParaRPr lang="en-US" sz="3200" dirty="0"/>
          </a:p>
        </p:txBody>
      </p:sp>
      <p:pic>
        <p:nvPicPr>
          <p:cNvPr id="4" name="Image 0" descr="connector">    </p:cNvPr>
          <p:cNvPicPr>
            <a:picLocks noChangeAspect="1"/>
          </p:cNvPicPr>
          <p:nvPr/>
        </p:nvPicPr>
        <p:blipFill>
          <a:blip r:embed="rId1"/>
          <a:srcRect l="0" r="0" t="0" b="0"/>
          <a:stretch/>
        </p:blipFill>
        <p:spPr>
          <a:xfrm>
            <a:off x="4127500" y="2413000"/>
            <a:ext cx="1270000" cy="1079500"/>
          </a:xfrm>
          <a:prstGeom prst="rect">
            <a:avLst/>
          </a:prstGeom>
        </p:spPr>
      </p:pic>
      <p:pic>
        <p:nvPicPr>
          <p:cNvPr id="5" name="Image 1" descr="connector">    </p:cNvPr>
          <p:cNvPicPr>
            <a:picLocks noChangeAspect="1"/>
          </p:cNvPicPr>
          <p:nvPr/>
        </p:nvPicPr>
        <p:blipFill>
          <a:blip r:embed="rId2"/>
          <a:srcRect l="0" r="0" t="0" b="0"/>
          <a:stretch/>
        </p:blipFill>
        <p:spPr>
          <a:xfrm>
            <a:off x="5270500" y="3365500"/>
            <a:ext cx="698500" cy="1079500"/>
          </a:xfrm>
          <a:prstGeom prst="rect">
            <a:avLst/>
          </a:prstGeom>
        </p:spPr>
      </p:pic>
      <p:pic>
        <p:nvPicPr>
          <p:cNvPr id="6" name="Image 2" descr="connector">    </p:cNvPr>
          <p:cNvPicPr>
            <a:picLocks noChangeAspect="1"/>
          </p:cNvPicPr>
          <p:nvPr/>
        </p:nvPicPr>
        <p:blipFill>
          <a:blip r:embed="rId3"/>
          <a:srcRect l="0" r="0" t="0" b="0"/>
          <a:stretch/>
        </p:blipFill>
        <p:spPr>
          <a:xfrm>
            <a:off x="2413000" y="3365500"/>
            <a:ext cx="698500" cy="1079500"/>
          </a:xfrm>
          <a:prstGeom prst="rect">
            <a:avLst/>
          </a:prstGeom>
        </p:spPr>
      </p:pic>
      <p:pic>
        <p:nvPicPr>
          <p:cNvPr id="7" name="Image 3" descr="connector">    </p:cNvPr>
          <p:cNvPicPr>
            <a:picLocks noChangeAspect="1"/>
          </p:cNvPicPr>
          <p:nvPr/>
        </p:nvPicPr>
        <p:blipFill>
          <a:blip r:embed="rId4"/>
          <a:srcRect l="0" r="0" t="0" b="0"/>
          <a:stretch/>
        </p:blipFill>
        <p:spPr>
          <a:xfrm>
            <a:off x="2914650" y="2343150"/>
            <a:ext cx="1409700" cy="1219200"/>
          </a:xfrm>
          <a:prstGeom prst="rect">
            <a:avLst/>
          </a:prstGeom>
        </p:spPr>
      </p:pic>
      <p:pic>
        <p:nvPicPr>
          <p:cNvPr id="8" name="Image 4" descr="connector">    </p:cNvPr>
          <p:cNvPicPr>
            <a:picLocks noChangeAspect="1"/>
          </p:cNvPicPr>
          <p:nvPr/>
        </p:nvPicPr>
        <p:blipFill>
          <a:blip r:embed="rId5"/>
          <a:srcRect l="0" r="0" t="0" b="0"/>
          <a:stretch/>
        </p:blipFill>
        <p:spPr>
          <a:xfrm>
            <a:off x="2914650" y="3295650"/>
            <a:ext cx="838200" cy="1219200"/>
          </a:xfrm>
          <a:prstGeom prst="rect">
            <a:avLst/>
          </a:prstGeom>
        </p:spPr>
      </p:pic>
      <p:pic>
        <p:nvPicPr>
          <p:cNvPr id="9" name="Image 5" descr="connector">    </p:cNvPr>
          <p:cNvPicPr>
            <a:picLocks noChangeAspect="1"/>
          </p:cNvPicPr>
          <p:nvPr/>
        </p:nvPicPr>
        <p:blipFill>
          <a:blip r:embed="rId6"/>
          <a:srcRect l="0" r="0" t="0" b="0"/>
          <a:stretch/>
        </p:blipFill>
        <p:spPr>
          <a:xfrm>
            <a:off x="2914650" y="4248150"/>
            <a:ext cx="838200" cy="1219200"/>
          </a:xfrm>
          <a:prstGeom prst="rect">
            <a:avLst/>
          </a:prstGeom>
        </p:spPr>
      </p:pic>
      <p:sp>
        <p:nvSpPr>
          <p:cNvPr id="10" name="Text 2"/>
          <p:cNvSpPr/>
          <p:nvPr/>
        </p:nvSpPr>
        <p:spPr>
          <a:xfrm>
            <a:off x="812800" y="23431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0</a:t>
            </a:r>
            <a:endParaRPr lang="en-US" sz="1500" dirty="0"/>
          </a:p>
        </p:txBody>
      </p:sp>
      <p:sp>
        <p:nvSpPr>
          <p:cNvPr id="11" name="Text 3"/>
          <p:cNvSpPr/>
          <p:nvPr/>
        </p:nvSpPr>
        <p:spPr>
          <a:xfrm>
            <a:off x="812800" y="32956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1</a:t>
            </a:r>
            <a:endParaRPr lang="en-US" sz="1500" dirty="0"/>
          </a:p>
        </p:txBody>
      </p:sp>
      <p:sp>
        <p:nvSpPr>
          <p:cNvPr id="12" name="Text 4"/>
          <p:cNvSpPr/>
          <p:nvPr/>
        </p:nvSpPr>
        <p:spPr>
          <a:xfrm>
            <a:off x="812800" y="42481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2</a:t>
            </a:r>
            <a:endParaRPr lang="en-US" sz="1500" dirty="0"/>
          </a:p>
        </p:txBody>
      </p:sp>
      <p:sp>
        <p:nvSpPr>
          <p:cNvPr id="13" name="Text 5"/>
          <p:cNvSpPr/>
          <p:nvPr/>
        </p:nvSpPr>
        <p:spPr>
          <a:xfrm>
            <a:off x="812800" y="52006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3</a:t>
            </a:r>
            <a:endParaRPr lang="en-US" sz="1500" dirty="0"/>
          </a:p>
        </p:txBody>
      </p:sp>
      <p:sp>
        <p:nvSpPr>
          <p:cNvPr id="14" name="Text 6"/>
          <p:cNvSpPr/>
          <p:nvPr/>
        </p:nvSpPr>
        <p:spPr>
          <a:xfrm>
            <a:off x="3921125" y="22066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A</a:t>
            </a:r>
            <a:endParaRPr lang="en-US" sz="1800" dirty="0"/>
          </a:p>
        </p:txBody>
      </p:sp>
      <p:sp>
        <p:nvSpPr>
          <p:cNvPr id="15" name="Text 7"/>
          <p:cNvSpPr/>
          <p:nvPr/>
        </p:nvSpPr>
        <p:spPr>
          <a:xfrm>
            <a:off x="2778125" y="3159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B</a:t>
            </a:r>
            <a:endParaRPr lang="en-US" sz="1800" dirty="0"/>
          </a:p>
        </p:txBody>
      </p:sp>
      <p:sp>
        <p:nvSpPr>
          <p:cNvPr id="16" name="Text 8"/>
          <p:cNvSpPr/>
          <p:nvPr/>
        </p:nvSpPr>
        <p:spPr>
          <a:xfrm>
            <a:off x="5064125" y="3159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C</a:t>
            </a:r>
            <a:endParaRPr lang="en-US" sz="1800" dirty="0"/>
          </a:p>
        </p:txBody>
      </p:sp>
      <p:sp>
        <p:nvSpPr>
          <p:cNvPr id="17" name="Text 9"/>
          <p:cNvSpPr/>
          <p:nvPr/>
        </p:nvSpPr>
        <p:spPr>
          <a:xfrm>
            <a:off x="2206625" y="41116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D</a:t>
            </a:r>
            <a:endParaRPr lang="en-US" sz="1800" dirty="0"/>
          </a:p>
        </p:txBody>
      </p:sp>
      <p:sp>
        <p:nvSpPr>
          <p:cNvPr id="18" name="Text 10"/>
          <p:cNvSpPr/>
          <p:nvPr/>
        </p:nvSpPr>
        <p:spPr>
          <a:xfrm>
            <a:off x="3349625" y="41116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E</a:t>
            </a:r>
            <a:endParaRPr lang="en-US" sz="1800" dirty="0"/>
          </a:p>
        </p:txBody>
      </p:sp>
      <p:sp>
        <p:nvSpPr>
          <p:cNvPr id="19" name="Text 11"/>
          <p:cNvSpPr/>
          <p:nvPr/>
        </p:nvSpPr>
        <p:spPr>
          <a:xfrm>
            <a:off x="5635625" y="41116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F</a:t>
            </a:r>
            <a:endParaRPr lang="en-US" sz="1800" dirty="0"/>
          </a:p>
        </p:txBody>
      </p:sp>
      <p:sp>
        <p:nvSpPr>
          <p:cNvPr id="20" name="Text 12"/>
          <p:cNvSpPr/>
          <p:nvPr/>
        </p:nvSpPr>
        <p:spPr>
          <a:xfrm>
            <a:off x="2778125" y="5064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G</a:t>
            </a:r>
            <a:endParaRPr lang="en-US" sz="1800" dirty="0"/>
          </a:p>
        </p:txBody>
      </p:sp>
      <p:sp>
        <p:nvSpPr>
          <p:cNvPr id="21" name="Shape 13"/>
          <p:cNvSpPr/>
          <p:nvPr/>
        </p:nvSpPr>
        <p:spPr>
          <a:xfrm>
            <a:off x="6991350" y="1911350"/>
            <a:ext cx="4381500" cy="3797300"/>
          </a:xfrm>
          <a:prstGeom prst="roundRect">
            <a:avLst>
              <a:gd name="adj" fmla="val 3846"/>
            </a:avLst>
          </a:prstGeom>
          <a:solidFill>
            <a:srgbClr val="FFFDF7"/>
          </a:solidFill>
          <a:ln w="12700">
            <a:solidFill>
              <a:srgbClr val="D9D6C8"/>
            </a:solidFill>
            <a:prstDash val="solid"/>
          </a:ln>
        </p:spPr>
        <p:txBody>
          <a:bodyPr/>
          <a:p/>
        </p:txBody>
      </p:sp>
      <p:sp>
        <p:nvSpPr>
          <p:cNvPr id="22" name="Text 14"/>
          <p:cNvSpPr/>
          <p:nvPr/>
        </p:nvSpPr>
        <p:spPr>
          <a:xfrm>
            <a:off x="7251700" y="2171700"/>
            <a:ext cx="397662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61F"/>
                </a:solidFill>
                <a:latin typeface="DM Sans" pitchFamily="34" charset="0"/>
                <a:ea typeface="DM Sans" pitchFamily="34" charset="-122"/>
                <a:cs typeface="DM Sans" pitchFamily="34" charset="-120"/>
              </a:rPr>
              <a:t>Nivel</a:t>
            </a:r>
            <a:endParaRPr lang="en-US" sz="2200" dirty="0"/>
          </a:p>
        </p:txBody>
      </p:sp>
      <p:sp>
        <p:nvSpPr>
          <p:cNvPr id="23" name="Text 15"/>
          <p:cNvSpPr/>
          <p:nvPr/>
        </p:nvSpPr>
        <p:spPr>
          <a:xfrm>
            <a:off x="7251700" y="2621260"/>
            <a:ext cx="39766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Distancia de un nodo a la raíz. La raíz está en el nivel 0.</a:t>
            </a:r>
            <a:endParaRPr lang="en-US" sz="1500" dirty="0"/>
          </a:p>
        </p:txBody>
      </p:sp>
      <p:sp>
        <p:nvSpPr>
          <p:cNvPr id="24" name="Text 16"/>
          <p:cNvSpPr/>
          <p:nvPr/>
        </p:nvSpPr>
        <p:spPr>
          <a:xfrm>
            <a:off x="7251700" y="3268960"/>
            <a:ext cx="397662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61F"/>
                </a:solidFill>
                <a:latin typeface="DM Sans" pitchFamily="34" charset="0"/>
                <a:ea typeface="DM Sans" pitchFamily="34" charset="-122"/>
                <a:cs typeface="DM Sans" pitchFamily="34" charset="-120"/>
              </a:rPr>
              <a:t>Altura</a:t>
            </a:r>
            <a:endParaRPr lang="en-US" sz="2200" dirty="0"/>
          </a:p>
        </p:txBody>
      </p:sp>
      <p:sp>
        <p:nvSpPr>
          <p:cNvPr id="25" name="Text 17"/>
          <p:cNvSpPr/>
          <p:nvPr/>
        </p:nvSpPr>
        <p:spPr>
          <a:xfrm>
            <a:off x="7251700" y="3718520"/>
            <a:ext cx="39766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Camino más largo de la raíz a una hoja, contado en aristas.</a:t>
            </a:r>
            <a:endParaRPr lang="en-US" sz="1500" dirty="0"/>
          </a:p>
        </p:txBody>
      </p:sp>
      <p:sp>
        <p:nvSpPr>
          <p:cNvPr id="26" name="Text 18"/>
          <p:cNvSpPr/>
          <p:nvPr/>
        </p:nvSpPr>
        <p:spPr>
          <a:xfrm>
            <a:off x="7251700" y="4366220"/>
            <a:ext cx="397662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261F"/>
                </a:solidFill>
                <a:latin typeface="DM Sans" pitchFamily="34" charset="0"/>
                <a:ea typeface="DM Sans" pitchFamily="34" charset="-122"/>
                <a:cs typeface="DM Sans" pitchFamily="34" charset="-120"/>
              </a:rPr>
              <a:t>Altura = 3</a:t>
            </a:r>
            <a:endParaRPr lang="en-US" sz="3600" dirty="0"/>
          </a:p>
        </p:txBody>
      </p:sp>
      <p:sp>
        <p:nvSpPr>
          <p:cNvPr id="27" name="Text 19"/>
          <p:cNvSpPr/>
          <p:nvPr/>
        </p:nvSpPr>
        <p:spPr>
          <a:xfrm>
            <a:off x="7251700" y="4983361"/>
            <a:ext cx="397662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camino A, B, E, G</a:t>
            </a:r>
            <a:endParaRPr lang="en-US" sz="1500" dirty="0"/>
          </a:p>
        </p:txBody>
      </p:sp>
      <p:sp>
        <p:nvSpPr>
          <p:cNvPr id="28"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Árbol general y árbol binario</a:t>
            </a:r>
            <a:endParaRPr lang="en-US" sz="3200" dirty="0"/>
          </a:p>
        </p:txBody>
      </p:sp>
      <p:sp>
        <p:nvSpPr>
          <p:cNvPr id="4" name="Shape 2"/>
          <p:cNvSpPr/>
          <p:nvPr/>
        </p:nvSpPr>
        <p:spPr>
          <a:xfrm>
            <a:off x="819150" y="1911350"/>
            <a:ext cx="5143500" cy="3797300"/>
          </a:xfrm>
          <a:prstGeom prst="roundRect">
            <a:avLst>
              <a:gd name="adj" fmla="val 3846"/>
            </a:avLst>
          </a:prstGeom>
          <a:solidFill>
            <a:srgbClr val="FFFDF7"/>
          </a:solidFill>
          <a:ln w="12700">
            <a:solidFill>
              <a:srgbClr val="D9D6C8"/>
            </a:solidFill>
            <a:prstDash val="solid"/>
          </a:ln>
        </p:spPr>
        <p:txBody>
          <a:bodyPr/>
          <a:p/>
        </p:txBody>
      </p:sp>
      <p:sp>
        <p:nvSpPr>
          <p:cNvPr id="5" name="Shape 3"/>
          <p:cNvSpPr/>
          <p:nvPr/>
        </p:nvSpPr>
        <p:spPr>
          <a:xfrm>
            <a:off x="6229350" y="1911350"/>
            <a:ext cx="5143500" cy="3797300"/>
          </a:xfrm>
          <a:prstGeom prst="roundRect">
            <a:avLst>
              <a:gd name="adj" fmla="val 3846"/>
            </a:avLst>
          </a:prstGeom>
          <a:solidFill>
            <a:srgbClr val="FFFDF7"/>
          </a:solidFill>
          <a:ln w="12700">
            <a:solidFill>
              <a:srgbClr val="D9D6C8"/>
            </a:solidFill>
            <a:prstDash val="solid"/>
          </a:ln>
        </p:spPr>
        <p:txBody>
          <a:bodyPr/>
          <a:p/>
        </p:txBody>
      </p:sp>
      <p:sp>
        <p:nvSpPr>
          <p:cNvPr id="6" name="Text 4"/>
          <p:cNvSpPr/>
          <p:nvPr/>
        </p:nvSpPr>
        <p:spPr>
          <a:xfrm>
            <a:off x="1066800" y="209550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1F"/>
                </a:solidFill>
                <a:latin typeface="DM Sans" pitchFamily="34" charset="0"/>
                <a:ea typeface="DM Sans" pitchFamily="34" charset="-122"/>
                <a:cs typeface="DM Sans" pitchFamily="34" charset="-120"/>
              </a:rPr>
              <a:t>Árbol general</a:t>
            </a:r>
            <a:endParaRPr lang="en-US" sz="2000" dirty="0"/>
          </a:p>
        </p:txBody>
      </p:sp>
      <p:sp>
        <p:nvSpPr>
          <p:cNvPr id="7" name="Text 5"/>
          <p:cNvSpPr/>
          <p:nvPr/>
        </p:nvSpPr>
        <p:spPr>
          <a:xfrm>
            <a:off x="1066800" y="2451100"/>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4"/>
                </a:solidFill>
                <a:latin typeface="DM Sans" pitchFamily="34" charset="0"/>
                <a:ea typeface="DM Sans" pitchFamily="34" charset="-122"/>
                <a:cs typeface="DM Sans" pitchFamily="34" charset="-120"/>
              </a:rPr>
              <a:t>Cada nodo puede tener cualquier cantidad de hijos.</a:t>
            </a:r>
            <a:endParaRPr lang="en-US" sz="1400" dirty="0"/>
          </a:p>
        </p:txBody>
      </p:sp>
      <p:sp>
        <p:nvSpPr>
          <p:cNvPr id="8" name="Text 6"/>
          <p:cNvSpPr/>
          <p:nvPr/>
        </p:nvSpPr>
        <p:spPr>
          <a:xfrm>
            <a:off x="6477000" y="209550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1F"/>
                </a:solidFill>
                <a:latin typeface="DM Sans" pitchFamily="34" charset="0"/>
                <a:ea typeface="DM Sans" pitchFamily="34" charset="-122"/>
                <a:cs typeface="DM Sans" pitchFamily="34" charset="-120"/>
              </a:rPr>
              <a:t>Árbol binario</a:t>
            </a:r>
            <a:endParaRPr lang="en-US" sz="2000" dirty="0"/>
          </a:p>
        </p:txBody>
      </p:sp>
      <p:sp>
        <p:nvSpPr>
          <p:cNvPr id="9" name="Text 7"/>
          <p:cNvSpPr/>
          <p:nvPr/>
        </p:nvSpPr>
        <p:spPr>
          <a:xfrm>
            <a:off x="6477000" y="2451100"/>
            <a:ext cx="478764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4"/>
                </a:solidFill>
                <a:latin typeface="DM Sans" pitchFamily="34" charset="0"/>
                <a:ea typeface="DM Sans" pitchFamily="34" charset="-122"/>
                <a:cs typeface="DM Sans" pitchFamily="34" charset="-120"/>
              </a:rPr>
              <a:t>Cada nodo tiene como máximo dos hijos: el izquierdo y el derecho.</a:t>
            </a:r>
            <a:endParaRPr lang="en-US" sz="1400" dirty="0"/>
          </a:p>
        </p:txBody>
      </p:sp>
      <p:pic>
        <p:nvPicPr>
          <p:cNvPr id="10" name="Image 0" descr="connector">    </p:cNvPr>
          <p:cNvPicPr>
            <a:picLocks noChangeAspect="1"/>
          </p:cNvPicPr>
          <p:nvPr/>
        </p:nvPicPr>
        <p:blipFill>
          <a:blip r:embed="rId1"/>
          <a:srcRect l="0" r="0" t="0" b="0"/>
          <a:stretch/>
        </p:blipFill>
        <p:spPr>
          <a:xfrm>
            <a:off x="2057400" y="3365500"/>
            <a:ext cx="1397000" cy="1079500"/>
          </a:xfrm>
          <a:prstGeom prst="rect">
            <a:avLst/>
          </a:prstGeom>
        </p:spPr>
      </p:pic>
      <p:pic>
        <p:nvPicPr>
          <p:cNvPr id="11" name="Image 1" descr="connector">    </p:cNvPr>
          <p:cNvPicPr>
            <a:picLocks noChangeAspect="1"/>
          </p:cNvPicPr>
          <p:nvPr/>
        </p:nvPicPr>
        <p:blipFill>
          <a:blip r:embed="rId2"/>
          <a:srcRect l="0" r="0" t="0" b="0"/>
          <a:stretch/>
        </p:blipFill>
        <p:spPr>
          <a:xfrm>
            <a:off x="3327400" y="3365500"/>
            <a:ext cx="127000" cy="1079500"/>
          </a:xfrm>
          <a:prstGeom prst="rect">
            <a:avLst/>
          </a:prstGeom>
        </p:spPr>
      </p:pic>
      <p:pic>
        <p:nvPicPr>
          <p:cNvPr id="12" name="Image 2" descr="connector">    </p:cNvPr>
          <p:cNvPicPr>
            <a:picLocks noChangeAspect="1"/>
          </p:cNvPicPr>
          <p:nvPr/>
        </p:nvPicPr>
        <p:blipFill>
          <a:blip r:embed="rId3"/>
          <a:srcRect l="0" r="0" t="0" b="0"/>
          <a:stretch/>
        </p:blipFill>
        <p:spPr>
          <a:xfrm>
            <a:off x="3327400" y="3365500"/>
            <a:ext cx="1397000" cy="1079500"/>
          </a:xfrm>
          <a:prstGeom prst="rect">
            <a:avLst/>
          </a:prstGeom>
        </p:spPr>
      </p:pic>
      <p:pic>
        <p:nvPicPr>
          <p:cNvPr id="13" name="Image 3" descr="connector">    </p:cNvPr>
          <p:cNvPicPr>
            <a:picLocks noChangeAspect="1"/>
          </p:cNvPicPr>
          <p:nvPr/>
        </p:nvPicPr>
        <p:blipFill>
          <a:blip r:embed="rId4"/>
          <a:srcRect l="0" r="0" t="0" b="0"/>
          <a:stretch/>
        </p:blipFill>
        <p:spPr>
          <a:xfrm>
            <a:off x="1549400" y="4318000"/>
            <a:ext cx="635000" cy="1016000"/>
          </a:xfrm>
          <a:prstGeom prst="rect">
            <a:avLst/>
          </a:prstGeom>
        </p:spPr>
      </p:pic>
      <p:pic>
        <p:nvPicPr>
          <p:cNvPr id="14" name="Image 4" descr="connector">    </p:cNvPr>
          <p:cNvPicPr>
            <a:picLocks noChangeAspect="1"/>
          </p:cNvPicPr>
          <p:nvPr/>
        </p:nvPicPr>
        <p:blipFill>
          <a:blip r:embed="rId5"/>
          <a:srcRect l="0" r="0" t="0" b="0"/>
          <a:stretch/>
        </p:blipFill>
        <p:spPr>
          <a:xfrm>
            <a:off x="2057400" y="4318000"/>
            <a:ext cx="635000" cy="1016000"/>
          </a:xfrm>
          <a:prstGeom prst="rect">
            <a:avLst/>
          </a:prstGeom>
        </p:spPr>
      </p:pic>
      <p:pic>
        <p:nvPicPr>
          <p:cNvPr id="15" name="Image 5" descr="connector">    </p:cNvPr>
          <p:cNvPicPr>
            <a:picLocks noChangeAspect="1"/>
          </p:cNvPicPr>
          <p:nvPr/>
        </p:nvPicPr>
        <p:blipFill>
          <a:blip r:embed="rId6"/>
          <a:srcRect l="0" r="0" t="0" b="0"/>
          <a:stretch/>
        </p:blipFill>
        <p:spPr>
          <a:xfrm>
            <a:off x="7467600" y="3365500"/>
            <a:ext cx="1397000" cy="1079500"/>
          </a:xfrm>
          <a:prstGeom prst="rect">
            <a:avLst/>
          </a:prstGeom>
        </p:spPr>
      </p:pic>
      <p:pic>
        <p:nvPicPr>
          <p:cNvPr id="16" name="Image 6" descr="connector">    </p:cNvPr>
          <p:cNvPicPr>
            <a:picLocks noChangeAspect="1"/>
          </p:cNvPicPr>
          <p:nvPr/>
        </p:nvPicPr>
        <p:blipFill>
          <a:blip r:embed="rId7"/>
          <a:srcRect l="0" r="0" t="0" b="0"/>
          <a:stretch/>
        </p:blipFill>
        <p:spPr>
          <a:xfrm>
            <a:off x="8737600" y="3365500"/>
            <a:ext cx="1397000" cy="1079500"/>
          </a:xfrm>
          <a:prstGeom prst="rect">
            <a:avLst/>
          </a:prstGeom>
        </p:spPr>
      </p:pic>
      <p:pic>
        <p:nvPicPr>
          <p:cNvPr id="17" name="Image 7" descr="connector">    </p:cNvPr>
          <p:cNvPicPr>
            <a:picLocks noChangeAspect="1"/>
          </p:cNvPicPr>
          <p:nvPr/>
        </p:nvPicPr>
        <p:blipFill>
          <a:blip r:embed="rId8"/>
          <a:srcRect l="0" r="0" t="0" b="0"/>
          <a:stretch/>
        </p:blipFill>
        <p:spPr>
          <a:xfrm>
            <a:off x="6832600" y="4318000"/>
            <a:ext cx="762000" cy="1016000"/>
          </a:xfrm>
          <a:prstGeom prst="rect">
            <a:avLst/>
          </a:prstGeom>
        </p:spPr>
      </p:pic>
      <p:pic>
        <p:nvPicPr>
          <p:cNvPr id="18" name="Image 8" descr="connector">    </p:cNvPr>
          <p:cNvPicPr>
            <a:picLocks noChangeAspect="1"/>
          </p:cNvPicPr>
          <p:nvPr/>
        </p:nvPicPr>
        <p:blipFill>
          <a:blip r:embed="rId9"/>
          <a:srcRect l="0" r="0" t="0" b="0"/>
          <a:stretch/>
        </p:blipFill>
        <p:spPr>
          <a:xfrm>
            <a:off x="7467600" y="4318000"/>
            <a:ext cx="762000" cy="1016000"/>
          </a:xfrm>
          <a:prstGeom prst="rect">
            <a:avLst/>
          </a:prstGeom>
        </p:spPr>
      </p:pic>
      <p:sp>
        <p:nvSpPr>
          <p:cNvPr id="19" name="Text 8"/>
          <p:cNvSpPr/>
          <p:nvPr/>
        </p:nvSpPr>
        <p:spPr>
          <a:xfrm>
            <a:off x="3171825" y="3209925"/>
            <a:ext cx="438150" cy="4381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FFFDF7"/>
                </a:solidFill>
                <a:latin typeface="DM Sans" pitchFamily="34" charset="0"/>
                <a:ea typeface="DM Sans" pitchFamily="34" charset="-122"/>
                <a:cs typeface="DM Sans" pitchFamily="34" charset="-120"/>
              </a:rPr>
              <a:t>R</a:t>
            </a:r>
            <a:endParaRPr lang="en-US" sz="1500" dirty="0"/>
          </a:p>
        </p:txBody>
      </p:sp>
      <p:sp>
        <p:nvSpPr>
          <p:cNvPr id="20" name="Text 9"/>
          <p:cNvSpPr/>
          <p:nvPr/>
        </p:nvSpPr>
        <p:spPr>
          <a:xfrm>
            <a:off x="190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A</a:t>
            </a:r>
            <a:endParaRPr lang="en-US" sz="1500" dirty="0"/>
          </a:p>
        </p:txBody>
      </p:sp>
      <p:sp>
        <p:nvSpPr>
          <p:cNvPr id="21" name="Text 10"/>
          <p:cNvSpPr/>
          <p:nvPr/>
        </p:nvSpPr>
        <p:spPr>
          <a:xfrm>
            <a:off x="317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B</a:t>
            </a:r>
            <a:endParaRPr lang="en-US" sz="1500" dirty="0"/>
          </a:p>
        </p:txBody>
      </p:sp>
      <p:sp>
        <p:nvSpPr>
          <p:cNvPr id="22" name="Text 11"/>
          <p:cNvSpPr/>
          <p:nvPr/>
        </p:nvSpPr>
        <p:spPr>
          <a:xfrm>
            <a:off x="444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C</a:t>
            </a:r>
            <a:endParaRPr lang="en-US" sz="1500" dirty="0"/>
          </a:p>
        </p:txBody>
      </p:sp>
      <p:sp>
        <p:nvSpPr>
          <p:cNvPr id="23" name="Text 12"/>
          <p:cNvSpPr/>
          <p:nvPr/>
        </p:nvSpPr>
        <p:spPr>
          <a:xfrm>
            <a:off x="13938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D</a:t>
            </a:r>
            <a:endParaRPr lang="en-US" sz="1500" dirty="0"/>
          </a:p>
        </p:txBody>
      </p:sp>
      <p:sp>
        <p:nvSpPr>
          <p:cNvPr id="24" name="Text 13"/>
          <p:cNvSpPr/>
          <p:nvPr/>
        </p:nvSpPr>
        <p:spPr>
          <a:xfrm>
            <a:off x="24098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E</a:t>
            </a:r>
            <a:endParaRPr lang="en-US" sz="1500" dirty="0"/>
          </a:p>
        </p:txBody>
      </p:sp>
      <p:sp>
        <p:nvSpPr>
          <p:cNvPr id="25" name="Text 14"/>
          <p:cNvSpPr/>
          <p:nvPr/>
        </p:nvSpPr>
        <p:spPr>
          <a:xfrm>
            <a:off x="8582025" y="3209925"/>
            <a:ext cx="438150" cy="4381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FFFDF7"/>
                </a:solidFill>
                <a:latin typeface="DM Sans" pitchFamily="34" charset="0"/>
                <a:ea typeface="DM Sans" pitchFamily="34" charset="-122"/>
                <a:cs typeface="DM Sans" pitchFamily="34" charset="-120"/>
              </a:rPr>
              <a:t>R</a:t>
            </a:r>
            <a:endParaRPr lang="en-US" sz="1500" dirty="0"/>
          </a:p>
        </p:txBody>
      </p:sp>
      <p:sp>
        <p:nvSpPr>
          <p:cNvPr id="26" name="Text 15"/>
          <p:cNvSpPr/>
          <p:nvPr/>
        </p:nvSpPr>
        <p:spPr>
          <a:xfrm>
            <a:off x="73120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A</a:t>
            </a:r>
            <a:endParaRPr lang="en-US" sz="1500" dirty="0"/>
          </a:p>
        </p:txBody>
      </p:sp>
      <p:sp>
        <p:nvSpPr>
          <p:cNvPr id="27" name="Text 16"/>
          <p:cNvSpPr/>
          <p:nvPr/>
        </p:nvSpPr>
        <p:spPr>
          <a:xfrm>
            <a:off x="98520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B</a:t>
            </a:r>
            <a:endParaRPr lang="en-US" sz="1500" dirty="0"/>
          </a:p>
        </p:txBody>
      </p:sp>
      <p:sp>
        <p:nvSpPr>
          <p:cNvPr id="28" name="Text 17"/>
          <p:cNvSpPr/>
          <p:nvPr/>
        </p:nvSpPr>
        <p:spPr>
          <a:xfrm>
            <a:off x="66770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C</a:t>
            </a:r>
            <a:endParaRPr lang="en-US" sz="1500" dirty="0"/>
          </a:p>
        </p:txBody>
      </p:sp>
      <p:sp>
        <p:nvSpPr>
          <p:cNvPr id="29" name="Text 18"/>
          <p:cNvSpPr/>
          <p:nvPr/>
        </p:nvSpPr>
        <p:spPr>
          <a:xfrm>
            <a:off x="79470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D</a:t>
            </a:r>
            <a:endParaRPr lang="en-US" sz="1500" dirty="0"/>
          </a:p>
        </p:txBody>
      </p:sp>
      <p:sp>
        <p:nvSpPr>
          <p:cNvPr id="30" name="Text 19"/>
          <p:cNvSpPr/>
          <p:nvPr/>
        </p:nvSpPr>
        <p:spPr>
          <a:xfrm>
            <a:off x="3746500" y="332105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66"/>
                </a:solidFill>
                <a:latin typeface="DM Sans" pitchFamily="34" charset="0"/>
                <a:ea typeface="DM Sans" pitchFamily="34" charset="-122"/>
                <a:cs typeface="DM Sans" pitchFamily="34" charset="-120"/>
              </a:rPr>
              <a:t>3 hijos</a:t>
            </a:r>
            <a:endParaRPr lang="en-US" sz="1300" dirty="0"/>
          </a:p>
        </p:txBody>
      </p:sp>
      <p:sp>
        <p:nvSpPr>
          <p:cNvPr id="31" name="Text 20"/>
          <p:cNvSpPr/>
          <p:nvPr/>
        </p:nvSpPr>
        <p:spPr>
          <a:xfrm>
            <a:off x="9118600" y="3321050"/>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66"/>
                </a:solidFill>
                <a:latin typeface="DM Sans" pitchFamily="34" charset="0"/>
                <a:ea typeface="DM Sans" pitchFamily="34" charset="-122"/>
                <a:cs typeface="DM Sans" pitchFamily="34" charset="-120"/>
              </a:rPr>
              <a:t>máximo 2 hijos</a:t>
            </a:r>
            <a:endParaRPr lang="en-US" sz="1300" dirty="0"/>
          </a:p>
        </p:txBody>
      </p:sp>
      <p:sp>
        <p:nvSpPr>
          <p:cNvPr id="32" name="Text 21"/>
          <p:cNvSpPr/>
          <p:nvPr/>
        </p:nvSpPr>
        <p:spPr>
          <a:xfrm>
            <a:off x="6997700" y="3651250"/>
            <a:ext cx="1066800" cy="256480"/>
          </a:xfrm>
          <a:prstGeom prst="rect">
            <a:avLst/>
          </a:prstGeom>
          <a:noFill/>
          <a:ln/>
        </p:spPr>
        <p:txBody>
          <a:bodyPr wrap="square" lIns="0" tIns="0" rIns="0" bIns="0" rtlCol="0" anchor="t">
            <a:normAutofit/>
          </a:bodyPr>
          <a:lstStyle/>
          <a:p>
            <a:pPr algn="r" indent="0" marL="0">
              <a:lnSpc>
                <a:spcPts val="1820"/>
              </a:lnSpc>
              <a:buNone/>
            </a:pPr>
            <a:r>
              <a:rPr lang="en-US" sz="1300" i="1" dirty="0">
                <a:solidFill>
                  <a:srgbClr val="4A5A54"/>
                </a:solidFill>
                <a:latin typeface="DM Sans" pitchFamily="34" charset="0"/>
                <a:ea typeface="DM Sans" pitchFamily="34" charset="-122"/>
                <a:cs typeface="DM Sans" pitchFamily="34" charset="-120"/>
              </a:rPr>
              <a:t>izquierdo</a:t>
            </a:r>
            <a:endParaRPr lang="en-US" sz="1300" dirty="0"/>
          </a:p>
        </p:txBody>
      </p:sp>
      <p:sp>
        <p:nvSpPr>
          <p:cNvPr id="33" name="Text 22"/>
          <p:cNvSpPr/>
          <p:nvPr/>
        </p:nvSpPr>
        <p:spPr>
          <a:xfrm>
            <a:off x="9525000" y="3651250"/>
            <a:ext cx="1066800"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A54"/>
                </a:solidFill>
                <a:latin typeface="DM Sans" pitchFamily="34" charset="0"/>
                <a:ea typeface="DM Sans" pitchFamily="34" charset="-122"/>
                <a:cs typeface="DM Sans" pitchFamily="34" charset="-120"/>
              </a:rPr>
              <a:t>derecho</a:t>
            </a:r>
            <a:endParaRPr lang="en-US" sz="1300" dirty="0"/>
          </a:p>
        </p:txBody>
      </p:sp>
      <p:sp>
        <p:nvSpPr>
          <p:cNvPr id="34"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35"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EN JAVA</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La clase Nodo</a:t>
            </a:r>
            <a:endParaRPr lang="en-US" sz="3200" dirty="0"/>
          </a:p>
        </p:txBody>
      </p:sp>
      <p:sp>
        <p:nvSpPr>
          <p:cNvPr id="4" name="Text 2"/>
          <p:cNvSpPr/>
          <p:nvPr/>
        </p:nvSpPr>
        <p:spPr>
          <a:xfrm>
            <a:off x="819150" y="1974850"/>
            <a:ext cx="1468934" cy="7493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FFFDF7"/>
                </a:solidFill>
                <a:latin typeface="DM Sans" pitchFamily="34" charset="0"/>
                <a:ea typeface="DM Sans" pitchFamily="34" charset="-122"/>
                <a:cs typeface="DM Sans" pitchFamily="34" charset="-120"/>
              </a:rPr>
              <a:t>dato</a:t>
            </a:r>
            <a:endParaRPr lang="en-US" sz="1700" dirty="0"/>
          </a:p>
        </p:txBody>
      </p:sp>
      <p:sp>
        <p:nvSpPr>
          <p:cNvPr id="5" name="Text 3"/>
          <p:cNvSpPr/>
          <p:nvPr/>
        </p:nvSpPr>
        <p:spPr>
          <a:xfrm>
            <a:off x="2300784" y="1974850"/>
            <a:ext cx="1469033" cy="7493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12261F"/>
                </a:solidFill>
                <a:latin typeface="DM Sans" pitchFamily="34" charset="0"/>
                <a:ea typeface="DM Sans" pitchFamily="34" charset="-122"/>
                <a:cs typeface="DM Sans" pitchFamily="34" charset="-120"/>
              </a:rPr>
              <a:t>izquierdo</a:t>
            </a:r>
            <a:endParaRPr lang="en-US" sz="1700" dirty="0"/>
          </a:p>
        </p:txBody>
      </p:sp>
      <p:sp>
        <p:nvSpPr>
          <p:cNvPr id="6" name="Text 4"/>
          <p:cNvSpPr/>
          <p:nvPr/>
        </p:nvSpPr>
        <p:spPr>
          <a:xfrm>
            <a:off x="3782516" y="1974850"/>
            <a:ext cx="1468934" cy="7493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12261F"/>
                </a:solidFill>
                <a:latin typeface="DM Sans" pitchFamily="34" charset="0"/>
                <a:ea typeface="DM Sans" pitchFamily="34" charset="-122"/>
                <a:cs typeface="DM Sans" pitchFamily="34" charset="-120"/>
              </a:rPr>
              <a:t>derecho</a:t>
            </a:r>
            <a:endParaRPr lang="en-US" sz="1700" dirty="0"/>
          </a:p>
        </p:txBody>
      </p:sp>
      <p:pic>
        <p:nvPicPr>
          <p:cNvPr id="7" name="Image 0" descr="connector">    </p:cNvPr>
          <p:cNvPicPr>
            <a:picLocks noChangeAspect="1"/>
          </p:cNvPicPr>
          <p:nvPr/>
        </p:nvPicPr>
        <p:blipFill>
          <a:blip r:embed="rId1"/>
          <a:srcRect l="0" r="0" t="0" b="0"/>
          <a:stretch/>
        </p:blipFill>
        <p:spPr>
          <a:xfrm>
            <a:off x="2971800" y="2667000"/>
            <a:ext cx="127000" cy="762000"/>
          </a:xfrm>
          <a:prstGeom prst="rect">
            <a:avLst/>
          </a:prstGeom>
        </p:spPr>
      </p:pic>
      <p:pic>
        <p:nvPicPr>
          <p:cNvPr id="8" name="Image 1" descr="connector">    </p:cNvPr>
          <p:cNvPicPr>
            <a:picLocks noChangeAspect="1"/>
          </p:cNvPicPr>
          <p:nvPr/>
        </p:nvPicPr>
        <p:blipFill>
          <a:blip r:embed="rId2"/>
          <a:srcRect l="0" r="0" t="0" b="0"/>
          <a:stretch/>
        </p:blipFill>
        <p:spPr>
          <a:xfrm>
            <a:off x="4451350" y="2667000"/>
            <a:ext cx="127000" cy="762000"/>
          </a:xfrm>
          <a:prstGeom prst="rect">
            <a:avLst/>
          </a:prstGeom>
        </p:spPr>
      </p:pic>
      <p:sp>
        <p:nvSpPr>
          <p:cNvPr id="9" name="Text 5"/>
          <p:cNvSpPr/>
          <p:nvPr/>
        </p:nvSpPr>
        <p:spPr>
          <a:xfrm>
            <a:off x="2406650" y="3371850"/>
            <a:ext cx="1257300" cy="495300"/>
          </a:xfrm>
          <a:prstGeom prst="roundRect">
            <a:avLst>
              <a:gd name="adj" fmla="val 16667"/>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otro Nodo</a:t>
            </a:r>
            <a:endParaRPr lang="en-US" sz="1500" dirty="0"/>
          </a:p>
        </p:txBody>
      </p:sp>
      <p:sp>
        <p:nvSpPr>
          <p:cNvPr id="10" name="Text 6"/>
          <p:cNvSpPr/>
          <p:nvPr/>
        </p:nvSpPr>
        <p:spPr>
          <a:xfrm>
            <a:off x="3886200" y="3371850"/>
            <a:ext cx="1257300" cy="495300"/>
          </a:xfrm>
          <a:prstGeom prst="roundRect">
            <a:avLst>
              <a:gd name="adj" fmla="val 16667"/>
            </a:avLst>
          </a:prstGeom>
          <a:solidFill>
            <a:srgbClr val="EFEBDD"/>
          </a:solidFill>
          <a:ln w="12700">
            <a:solidFill>
              <a:srgbClr val="5A6A64"/>
            </a:solidFill>
            <a:prstDash val="dash"/>
          </a:ln>
        </p:spPr>
        <p:txBody>
          <a:bodyPr wrap="square" lIns="0" tIns="0" rIns="0" bIns="0" rtlCol="0" anchor="ctr">
            <a:normAutofit/>
          </a:bodyPr>
          <a:lstStyle/>
          <a:p>
            <a:pPr algn="ctr" indent="0" marL="0">
              <a:lnSpc>
                <a:spcPts val="2100"/>
              </a:lnSpc>
              <a:buNone/>
            </a:pPr>
            <a:r>
              <a:rPr lang="en-US" sz="1500" b="1" dirty="0">
                <a:solidFill>
                  <a:srgbClr val="4A5A54"/>
                </a:solidFill>
                <a:latin typeface="DM Sans" pitchFamily="34" charset="0"/>
                <a:ea typeface="DM Sans" pitchFamily="34" charset="-122"/>
                <a:cs typeface="DM Sans" pitchFamily="34" charset="-120"/>
              </a:rPr>
              <a:t>null</a:t>
            </a:r>
            <a:endParaRPr lang="en-US" sz="1500" dirty="0"/>
          </a:p>
        </p:txBody>
      </p:sp>
      <p:sp>
        <p:nvSpPr>
          <p:cNvPr id="11" name="Text 7"/>
          <p:cNvSpPr/>
          <p:nvPr/>
        </p:nvSpPr>
        <p:spPr>
          <a:xfrm>
            <a:off x="812800" y="4127500"/>
            <a:ext cx="45783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Si un enlace es null, ese hijo no existe. Una hoja es un nodo con los dos enlaces en null.</a:t>
            </a:r>
            <a:endParaRPr lang="en-US" sz="1500" dirty="0"/>
          </a:p>
        </p:txBody>
      </p:sp>
      <p:sp>
        <p:nvSpPr>
          <p:cNvPr id="12" name="Text 8"/>
          <p:cNvSpPr/>
          <p:nvPr/>
        </p:nvSpPr>
        <p:spPr>
          <a:xfrm>
            <a:off x="5715000" y="1968500"/>
            <a:ext cx="5664200" cy="2730500"/>
          </a:xfrm>
          <a:prstGeom prst="roundRect">
            <a:avLst>
              <a:gd name="adj" fmla="val 5581"/>
            </a:avLst>
          </a:prstGeom>
          <a:solidFill>
            <a:srgbClr val="12261F"/>
          </a:solidFill>
          <a:ln/>
        </p:spPr>
        <p:txBody>
          <a:bodyPr wrap="square" lIns="209364" tIns="209364" rIns="54678" bIns="209364" rtlCol="0" anchor="t">
            <a:normAutofit/>
          </a:bodyPr>
          <a:lstStyle/>
          <a:p>
            <a:pPr algn="l" indent="0" marL="0">
              <a:lnSpc>
                <a:spcPts val="2240"/>
              </a:lnSpc>
              <a:buNone/>
            </a:pPr>
            <a:r>
              <a:rPr lang="en-US" sz="1400" dirty="0">
                <a:solidFill>
                  <a:srgbClr val="E3A33B"/>
                </a:solidFill>
                <a:latin typeface="JetBrains Mono" pitchFamily="49" charset="0"/>
                <a:ea typeface="JetBrains Mono" pitchFamily="49" charset="-122"/>
                <a:cs typeface="JetBrains Mono" pitchFamily="49" charset="-120"/>
              </a:rPr>
              <a:t>public class</a:t>
            </a:r>
            <a:r>
              <a:rPr lang="en-US" sz="1400" dirty="0">
                <a:solidFill>
                  <a:srgbClr val="F6F4EC"/>
                </a:solidFill>
                <a:latin typeface="JetBrains Mono" pitchFamily="49" charset="0"/>
                <a:ea typeface="JetBrains Mono" pitchFamily="49" charset="-122"/>
                <a:cs typeface="JetBrains Mono" pitchFamily="49" charset="-120"/>
              </a:rPr>
              <a:t> Nodo&lt;T&gt;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T dato;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Nodo&lt;T&gt; izquierdo;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Nodo&lt;T&gt; derecho;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public</a:t>
            </a:r>
            <a:r>
              <a:rPr lang="en-US" sz="1400" dirty="0">
                <a:solidFill>
                  <a:srgbClr val="F6F4EC"/>
                </a:solidFill>
                <a:latin typeface="JetBrains Mono" pitchFamily="49" charset="0"/>
                <a:ea typeface="JetBrains Mono" pitchFamily="49" charset="-122"/>
                <a:cs typeface="JetBrains Mono" pitchFamily="49" charset="-120"/>
              </a:rPr>
              <a:t> Nodo(T dato) { this.dato = dato;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public boolean</a:t>
            </a:r>
            <a:r>
              <a:rPr lang="en-US" sz="1400" dirty="0">
                <a:solidFill>
                  <a:srgbClr val="F6F4EC"/>
                </a:solidFill>
                <a:latin typeface="JetBrains Mono" pitchFamily="49" charset="0"/>
                <a:ea typeface="JetBrains Mono" pitchFamily="49" charset="-122"/>
                <a:cs typeface="JetBrains Mono" pitchFamily="49" charset="-120"/>
              </a:rPr>
              <a:t> esHoja() { ...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a:t>
            </a:r>
            <a:endParaRPr lang="en-US" sz="1400" dirty="0"/>
          </a:p>
        </p:txBody>
      </p:sp>
      <p:sp>
        <p:nvSpPr>
          <p:cNvPr id="13"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14"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Nodo flujos">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MODELO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Nodo: esHoja() y grado()</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boolean esHoja()</a:t>
            </a:r>
            <a:endParaRPr lang="es-EC" sz="1300" dirty="0"/>
          </a:p>
        </p:txBody>
      </p:sp>
      <p:sp>
        <p:nvSpPr>
          <p:cNvPr id="5" name="Terminal"/>
          <p:cNvSpPr/>
          <p:nvPr/>
        </p:nvSpPr>
        <p:spPr>
          <a:xfrm>
            <a:off x="21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2900000" y="2530000"/>
            <a:ext cx="0" cy="220000"/>
          </a:xfrm>
          <a:prstGeom prst="line">
            <a:avLst/>
          </a:prstGeom>
          <a:ln w="19050">
            <a:solidFill>
              <a:srgbClr val="1F7A66"/>
            </a:solidFill>
            <a:prstDash val="solid"/>
            <a:tailEnd type="triangle" w="med" len="med"/>
          </a:ln>
        </p:spPr>
      </p:cxnSp>
      <p:sp>
        <p:nvSpPr>
          <p:cNvPr id="7" name="Decision"/>
          <p:cNvSpPr/>
          <p:nvPr/>
        </p:nvSpPr>
        <p:spPr>
          <a:xfrm>
            <a:off x="1450000" y="2750000"/>
            <a:ext cx="2900000" cy="10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1856000" y="2930000"/>
            <a:ext cx="2088000" cy="640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izquierdo == null</a:t>
            </a:r>
            <a:endParaRPr lang="es-EC" sz="1300" dirty="0"/>
          </a:p>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y derecho == null</a:t>
            </a:r>
            <a:endParaRPr lang="es-EC" sz="1300" dirty="0"/>
          </a:p>
        </p:txBody>
      </p:sp>
      <p:cxnSp>
        <p:nvCxnSpPr>
          <p:cNvPr id="9" name="Flecha"/>
          <p:cNvCxnSpPr/>
          <p:nvPr/>
        </p:nvCxnSpPr>
        <p:spPr>
          <a:xfrm>
            <a:off x="4350000" y="3250000"/>
            <a:ext cx="400000" cy="0"/>
          </a:xfrm>
          <a:prstGeom prst="line">
            <a:avLst/>
          </a:prstGeom>
          <a:ln w="19050">
            <a:solidFill>
              <a:srgbClr val="1F7A66"/>
            </a:solidFill>
            <a:prstDash val="solid"/>
            <a:tailEnd type="triangle" w="med" len="med"/>
          </a:ln>
        </p:spPr>
      </p:cxnSp>
      <p:sp>
        <p:nvSpPr>
          <p:cNvPr id="10" name="Rama"/>
          <p:cNvSpPr/>
          <p:nvPr/>
        </p:nvSpPr>
        <p:spPr>
          <a:xfrm>
            <a:off x="4400000" y="29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1" name="Terminal"/>
          <p:cNvSpPr/>
          <p:nvPr/>
        </p:nvSpPr>
        <p:spPr>
          <a:xfrm>
            <a:off x="4750000" y="3060000"/>
            <a:ext cx="13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false</a:t>
            </a:r>
            <a:endParaRPr lang="es-EC" sz="1200" dirty="0"/>
          </a:p>
        </p:txBody>
      </p:sp>
      <p:cxnSp>
        <p:nvCxnSpPr>
          <p:cNvPr id="12" name="Flecha"/>
          <p:cNvCxnSpPr/>
          <p:nvPr/>
        </p:nvCxnSpPr>
        <p:spPr>
          <a:xfrm>
            <a:off x="2900000" y="3750000"/>
            <a:ext cx="0" cy="450000"/>
          </a:xfrm>
          <a:prstGeom prst="line">
            <a:avLst/>
          </a:prstGeom>
          <a:ln w="19050">
            <a:solidFill>
              <a:srgbClr val="1F7A66"/>
            </a:solidFill>
            <a:prstDash val="solid"/>
            <a:tailEnd type="triangle" w="med" len="med"/>
          </a:ln>
        </p:spPr>
      </p:cxnSp>
      <p:sp>
        <p:nvSpPr>
          <p:cNvPr id="13" name="Rama"/>
          <p:cNvSpPr/>
          <p:nvPr/>
        </p:nvSpPr>
        <p:spPr>
          <a:xfrm>
            <a:off x="3000000" y="380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4" name="Terminal"/>
          <p:cNvSpPr/>
          <p:nvPr/>
        </p:nvSpPr>
        <p:spPr>
          <a:xfrm>
            <a:off x="2150000" y="420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true</a:t>
            </a:r>
            <a:endParaRPr lang="es-EC" sz="1200" dirty="0"/>
          </a:p>
        </p:txBody>
      </p:sp>
      <p:sp>
        <p:nvSpPr>
          <p:cNvPr id="15" name="Nota"/>
          <p:cNvSpPr/>
          <p:nvPr/>
        </p:nvSpPr>
        <p:spPr>
          <a:xfrm>
            <a:off x="812800" y="5000000"/>
            <a:ext cx="50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Una hoja es un nodo sin hijos: los dos enlaces valen null.</a:t>
            </a:r>
            <a:endParaRPr lang="es-EC" sz="1500" dirty="0"/>
          </a:p>
        </p:txBody>
      </p:sp>
      <p:sp>
        <p:nvSpPr>
          <p:cNvPr id="16"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grado()</a:t>
            </a:r>
            <a:endParaRPr lang="es-EC" sz="1300" dirty="0"/>
          </a:p>
        </p:txBody>
      </p:sp>
      <p:sp>
        <p:nvSpPr>
          <p:cNvPr id="17" name="Terminal"/>
          <p:cNvSpPr/>
          <p:nvPr/>
        </p:nvSpPr>
        <p:spPr>
          <a:xfrm>
            <a:off x="82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18" name="Flecha"/>
          <p:cNvCxnSpPr/>
          <p:nvPr/>
        </p:nvCxnSpPr>
        <p:spPr>
          <a:xfrm>
            <a:off x="9000000" y="2530000"/>
            <a:ext cx="0" cy="220000"/>
          </a:xfrm>
          <a:prstGeom prst="line">
            <a:avLst/>
          </a:prstGeom>
          <a:ln w="19050">
            <a:solidFill>
              <a:srgbClr val="1F7A66"/>
            </a:solidFill>
            <a:prstDash val="solid"/>
            <a:tailEnd type="triangle" w="med" len="med"/>
          </a:ln>
        </p:spPr>
      </p:cxnSp>
      <p:sp>
        <p:nvSpPr>
          <p:cNvPr id="19" name="Proceso"/>
          <p:cNvSpPr/>
          <p:nvPr/>
        </p:nvSpPr>
        <p:spPr>
          <a:xfrm>
            <a:off x="8150000" y="2750000"/>
            <a:ext cx="17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 = 0</a:t>
            </a:r>
            <a:endParaRPr lang="es-EC" sz="1300" dirty="0"/>
          </a:p>
        </p:txBody>
      </p:sp>
      <p:cxnSp>
        <p:nvCxnSpPr>
          <p:cNvPr id="20" name="Flecha"/>
          <p:cNvCxnSpPr/>
          <p:nvPr/>
        </p:nvCxnSpPr>
        <p:spPr>
          <a:xfrm>
            <a:off x="9000000" y="3130000"/>
            <a:ext cx="0" cy="220000"/>
          </a:xfrm>
          <a:prstGeom prst="line">
            <a:avLst/>
          </a:prstGeom>
          <a:ln w="19050">
            <a:solidFill>
              <a:srgbClr val="1F7A66"/>
            </a:solidFill>
            <a:prstDash val="solid"/>
            <a:tailEnd type="triangle" w="med" len="med"/>
          </a:ln>
        </p:spPr>
      </p:cxnSp>
      <p:sp>
        <p:nvSpPr>
          <p:cNvPr id="21" name="Decision"/>
          <p:cNvSpPr/>
          <p:nvPr/>
        </p:nvSpPr>
        <p:spPr>
          <a:xfrm>
            <a:off x="7700000" y="3350000"/>
            <a:ext cx="2600000" cy="76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2" name="Texto decision"/>
          <p:cNvSpPr/>
          <p:nvPr/>
        </p:nvSpPr>
        <p:spPr>
          <a:xfrm>
            <a:off x="8064000" y="3486800"/>
            <a:ext cx="1872000" cy="4864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izquierdo != null?</a:t>
            </a:r>
            <a:endParaRPr lang="es-EC" sz="1200" dirty="0"/>
          </a:p>
        </p:txBody>
      </p:sp>
      <p:cxnSp>
        <p:nvCxnSpPr>
          <p:cNvPr id="23" name="Flecha"/>
          <p:cNvCxnSpPr/>
          <p:nvPr/>
        </p:nvCxnSpPr>
        <p:spPr>
          <a:xfrm>
            <a:off x="10300000" y="3730000"/>
            <a:ext cx="250000" cy="0"/>
          </a:xfrm>
          <a:prstGeom prst="line">
            <a:avLst/>
          </a:prstGeom>
          <a:ln w="19050">
            <a:solidFill>
              <a:srgbClr val="1F7A66"/>
            </a:solidFill>
            <a:prstDash val="solid"/>
            <a:tailEnd type="triangle" w="med" len="med"/>
          </a:ln>
        </p:spPr>
      </p:cxnSp>
      <p:sp>
        <p:nvSpPr>
          <p:cNvPr id="24" name="Rama"/>
          <p:cNvSpPr/>
          <p:nvPr/>
        </p:nvSpPr>
        <p:spPr>
          <a:xfrm>
            <a:off x="10300000" y="346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5" name="Proceso"/>
          <p:cNvSpPr/>
          <p:nvPr/>
        </p:nvSpPr>
        <p:spPr>
          <a:xfrm>
            <a:off x="10650000" y="3540000"/>
            <a:ext cx="9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a:t>
            </a:r>
            <a:endParaRPr lang="es-EC" sz="1300" dirty="0"/>
          </a:p>
        </p:txBody>
      </p:sp>
      <p:cxnSp>
        <p:nvCxnSpPr>
          <p:cNvPr id="26" name="Flecha"/>
          <p:cNvCxnSpPr/>
          <p:nvPr/>
        </p:nvCxnSpPr>
        <p:spPr>
          <a:xfrm>
            <a:off x="11100000" y="3920000"/>
            <a:ext cx="0" cy="320000"/>
          </a:xfrm>
          <a:prstGeom prst="line">
            <a:avLst/>
          </a:prstGeom>
          <a:ln w="19050">
            <a:solidFill>
              <a:srgbClr val="1F7A66"/>
            </a:solidFill>
            <a:prstDash val="solid"/>
          </a:ln>
        </p:spPr>
      </p:cxnSp>
      <p:cxnSp>
        <p:nvCxnSpPr>
          <p:cNvPr id="27" name="Flecha"/>
          <p:cNvCxnSpPr/>
          <p:nvPr/>
        </p:nvCxnSpPr>
        <p:spPr>
          <a:xfrm flipH="1">
            <a:off x="9000000" y="4240000"/>
            <a:ext cx="2100000" cy="0"/>
          </a:xfrm>
          <a:prstGeom prst="line">
            <a:avLst/>
          </a:prstGeom>
          <a:ln w="19050">
            <a:solidFill>
              <a:srgbClr val="1F7A66"/>
            </a:solidFill>
            <a:prstDash val="solid"/>
            <a:tailEnd type="triangle" w="med" len="med"/>
          </a:ln>
        </p:spPr>
      </p:cxnSp>
      <p:cxnSp>
        <p:nvCxnSpPr>
          <p:cNvPr id="28" name="Flecha"/>
          <p:cNvCxnSpPr/>
          <p:nvPr/>
        </p:nvCxnSpPr>
        <p:spPr>
          <a:xfrm>
            <a:off x="9000000" y="4110000"/>
            <a:ext cx="0" cy="259999"/>
          </a:xfrm>
          <a:prstGeom prst="line">
            <a:avLst/>
          </a:prstGeom>
          <a:ln w="19050">
            <a:solidFill>
              <a:srgbClr val="1F7A66"/>
            </a:solidFill>
            <a:prstDash val="solid"/>
          </a:ln>
        </p:spPr>
      </p:cxnSp>
      <p:sp>
        <p:nvSpPr>
          <p:cNvPr id="29" name="Rama"/>
          <p:cNvSpPr/>
          <p:nvPr/>
        </p:nvSpPr>
        <p:spPr>
          <a:xfrm>
            <a:off x="9100000" y="4099999"/>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0" name="Decision"/>
          <p:cNvSpPr/>
          <p:nvPr/>
        </p:nvSpPr>
        <p:spPr>
          <a:xfrm>
            <a:off x="7700000" y="4370000"/>
            <a:ext cx="2600000" cy="76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31" name="Texto decision"/>
          <p:cNvSpPr/>
          <p:nvPr/>
        </p:nvSpPr>
        <p:spPr>
          <a:xfrm>
            <a:off x="8064000" y="4506800"/>
            <a:ext cx="1872000" cy="4864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derecho != null?</a:t>
            </a:r>
            <a:endParaRPr lang="es-EC" sz="1200" dirty="0"/>
          </a:p>
        </p:txBody>
      </p:sp>
      <p:cxnSp>
        <p:nvCxnSpPr>
          <p:cNvPr id="32" name="Flecha"/>
          <p:cNvCxnSpPr/>
          <p:nvPr/>
        </p:nvCxnSpPr>
        <p:spPr>
          <a:xfrm>
            <a:off x="10300000" y="4750000"/>
            <a:ext cx="250000" cy="0"/>
          </a:xfrm>
          <a:prstGeom prst="line">
            <a:avLst/>
          </a:prstGeom>
          <a:ln w="19050">
            <a:solidFill>
              <a:srgbClr val="1F7A66"/>
            </a:solidFill>
            <a:prstDash val="solid"/>
            <a:tailEnd type="triangle" w="med" len="med"/>
          </a:ln>
        </p:spPr>
      </p:cxnSp>
      <p:sp>
        <p:nvSpPr>
          <p:cNvPr id="33" name="Rama"/>
          <p:cNvSpPr/>
          <p:nvPr/>
        </p:nvSpPr>
        <p:spPr>
          <a:xfrm>
            <a:off x="10300000" y="44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4" name="Proceso"/>
          <p:cNvSpPr/>
          <p:nvPr/>
        </p:nvSpPr>
        <p:spPr>
          <a:xfrm>
            <a:off x="10650000" y="4560000"/>
            <a:ext cx="9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a:t>
            </a:r>
            <a:endParaRPr lang="es-EC" sz="1300" dirty="0"/>
          </a:p>
        </p:txBody>
      </p:sp>
      <p:cxnSp>
        <p:nvCxnSpPr>
          <p:cNvPr id="35" name="Flecha"/>
          <p:cNvCxnSpPr/>
          <p:nvPr/>
        </p:nvCxnSpPr>
        <p:spPr>
          <a:xfrm>
            <a:off x="11100000" y="4940000"/>
            <a:ext cx="0" cy="340000"/>
          </a:xfrm>
          <a:prstGeom prst="line">
            <a:avLst/>
          </a:prstGeom>
          <a:ln w="19050">
            <a:solidFill>
              <a:srgbClr val="1F7A66"/>
            </a:solidFill>
            <a:prstDash val="solid"/>
          </a:ln>
        </p:spPr>
      </p:cxnSp>
      <p:cxnSp>
        <p:nvCxnSpPr>
          <p:cNvPr id="36" name="Flecha"/>
          <p:cNvCxnSpPr/>
          <p:nvPr/>
        </p:nvCxnSpPr>
        <p:spPr>
          <a:xfrm flipH="1">
            <a:off x="9000000" y="5280000"/>
            <a:ext cx="2100000" cy="0"/>
          </a:xfrm>
          <a:prstGeom prst="line">
            <a:avLst/>
          </a:prstGeom>
          <a:ln w="19050">
            <a:solidFill>
              <a:srgbClr val="1F7A66"/>
            </a:solidFill>
            <a:prstDash val="solid"/>
            <a:tailEnd type="triangle" w="med" len="med"/>
          </a:ln>
        </p:spPr>
      </p:cxnSp>
      <p:cxnSp>
        <p:nvCxnSpPr>
          <p:cNvPr id="37" name="Flecha"/>
          <p:cNvCxnSpPr/>
          <p:nvPr/>
        </p:nvCxnSpPr>
        <p:spPr>
          <a:xfrm>
            <a:off x="9000000" y="5130000"/>
            <a:ext cx="0" cy="300000"/>
          </a:xfrm>
          <a:prstGeom prst="line">
            <a:avLst/>
          </a:prstGeom>
          <a:ln w="19050">
            <a:solidFill>
              <a:srgbClr val="1F7A66"/>
            </a:solidFill>
            <a:prstDash val="solid"/>
          </a:ln>
        </p:spPr>
      </p:cxnSp>
      <p:sp>
        <p:nvSpPr>
          <p:cNvPr id="38" name="Rama"/>
          <p:cNvSpPr/>
          <p:nvPr/>
        </p:nvSpPr>
        <p:spPr>
          <a:xfrm>
            <a:off x="9100000" y="51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9" name="Terminal"/>
          <p:cNvSpPr/>
          <p:nvPr/>
        </p:nvSpPr>
        <p:spPr>
          <a:xfrm>
            <a:off x="8150000" y="5430000"/>
            <a:ext cx="17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hijos</a:t>
            </a:r>
            <a:endParaRPr lang="es-EC" sz="1200" dirty="0"/>
          </a:p>
        </p:txBody>
      </p:sp>
      <p:sp>
        <p:nvSpPr>
          <p:cNvPr id="40"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41"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8 / 17</a:t>
            </a:r>
            <a:endParaRPr lang="es-EC"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Operaciones">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Las operaciones de cada clase</a:t>
            </a:r>
            <a:endParaRPr lang="es-EC" sz="3200" dirty="0"/>
          </a:p>
        </p:txBody>
      </p:sp>
      <p:sp>
        <p:nvSpPr>
          <p:cNvPr id="4" name="Cabecera modelo"/>
          <p:cNvSpPr/>
          <p:nvPr/>
        </p:nvSpPr>
        <p:spPr>
          <a:xfrm>
            <a:off x="812800" y="174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MODELO · Nodo&lt;T&gt;</a:t>
            </a:r>
            <a:endParaRPr lang="es-EC" sz="1300" dirty="0"/>
          </a:p>
        </p:txBody>
      </p:sp>
      <p:sp>
        <p:nvSpPr>
          <p:cNvPr id="5" name="Cabecera negocio"/>
          <p:cNvSpPr/>
          <p:nvPr/>
        </p:nvSpPr>
        <p:spPr>
          <a:xfrm>
            <a:off x="6496192" y="174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NEGOCIO · ArbolBinario&lt;T&gt;</a:t>
            </a:r>
            <a:endParaRPr lang="es-EC" sz="1300" dirty="0"/>
          </a:p>
        </p:txBody>
      </p:sp>
      <p:sp>
        <p:nvSpPr>
          <p:cNvPr id="6" name="Fila"/>
          <p:cNvSpPr/>
          <p:nvPr/>
        </p:nvSpPr>
        <p:spPr>
          <a:xfrm>
            <a:off x="812800" y="21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7" name="Firma"/>
          <p:cNvSpPr/>
          <p:nvPr/>
        </p:nvSpPr>
        <p:spPr>
          <a:xfrm>
            <a:off x="942800" y="21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getDato / setDato</a:t>
            </a:r>
            <a:endParaRPr lang="es-EC" sz="1200" dirty="0"/>
          </a:p>
        </p:txBody>
      </p:sp>
      <p:sp>
        <p:nvSpPr>
          <p:cNvPr id="8" name="Descripcion"/>
          <p:cNvSpPr/>
          <p:nvPr/>
        </p:nvSpPr>
        <p:spPr>
          <a:xfrm>
            <a:off x="3842800" y="21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lee y cambia el dato</a:t>
            </a:r>
            <a:endParaRPr lang="es-EC" sz="1200" dirty="0"/>
          </a:p>
        </p:txBody>
      </p:sp>
      <p:sp>
        <p:nvSpPr>
          <p:cNvPr id="9" name="Fila"/>
          <p:cNvSpPr/>
          <p:nvPr/>
        </p:nvSpPr>
        <p:spPr>
          <a:xfrm>
            <a:off x="812800" y="25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0" name="Firma"/>
          <p:cNvSpPr/>
          <p:nvPr/>
        </p:nvSpPr>
        <p:spPr>
          <a:xfrm>
            <a:off x="942800" y="25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getIzquierdo / setIzquierdo</a:t>
            </a:r>
            <a:endParaRPr lang="es-EC" sz="1200" dirty="0"/>
          </a:p>
        </p:txBody>
      </p:sp>
      <p:sp>
        <p:nvSpPr>
          <p:cNvPr id="11" name="Descripcion"/>
          <p:cNvSpPr/>
          <p:nvPr/>
        </p:nvSpPr>
        <p:spPr>
          <a:xfrm>
            <a:off x="3842800" y="25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enlace izquierdo</a:t>
            </a:r>
            <a:endParaRPr lang="es-EC" sz="1200" dirty="0"/>
          </a:p>
        </p:txBody>
      </p:sp>
      <p:sp>
        <p:nvSpPr>
          <p:cNvPr id="12" name="Fila"/>
          <p:cNvSpPr/>
          <p:nvPr/>
        </p:nvSpPr>
        <p:spPr>
          <a:xfrm>
            <a:off x="812800" y="30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3" name="Firma"/>
          <p:cNvSpPr/>
          <p:nvPr/>
        </p:nvSpPr>
        <p:spPr>
          <a:xfrm>
            <a:off x="942800" y="30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getDerecho / setDerecho</a:t>
            </a:r>
            <a:endParaRPr lang="es-EC" sz="1200" dirty="0"/>
          </a:p>
        </p:txBody>
      </p:sp>
      <p:sp>
        <p:nvSpPr>
          <p:cNvPr id="14" name="Descripcion"/>
          <p:cNvSpPr/>
          <p:nvPr/>
        </p:nvSpPr>
        <p:spPr>
          <a:xfrm>
            <a:off x="3842800" y="30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enlace derecho</a:t>
            </a:r>
            <a:endParaRPr lang="es-EC" sz="1200" dirty="0"/>
          </a:p>
        </p:txBody>
      </p:sp>
      <p:sp>
        <p:nvSpPr>
          <p:cNvPr id="15" name="Fila"/>
          <p:cNvSpPr/>
          <p:nvPr/>
        </p:nvSpPr>
        <p:spPr>
          <a:xfrm>
            <a:off x="812800" y="348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6" name="Firma"/>
          <p:cNvSpPr/>
          <p:nvPr/>
        </p:nvSpPr>
        <p:spPr>
          <a:xfrm>
            <a:off x="942800" y="348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esHoja()</a:t>
            </a:r>
            <a:endParaRPr lang="es-EC" sz="1200" dirty="0"/>
          </a:p>
        </p:txBody>
      </p:sp>
      <p:sp>
        <p:nvSpPr>
          <p:cNvPr id="17" name="Descripcion"/>
          <p:cNvSpPr/>
          <p:nvPr/>
        </p:nvSpPr>
        <p:spPr>
          <a:xfrm>
            <a:off x="3842800" y="348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true si no tiene hijos</a:t>
            </a:r>
            <a:endParaRPr lang="es-EC" sz="1200" dirty="0"/>
          </a:p>
        </p:txBody>
      </p:sp>
      <p:sp>
        <p:nvSpPr>
          <p:cNvPr id="18" name="Fila"/>
          <p:cNvSpPr/>
          <p:nvPr/>
        </p:nvSpPr>
        <p:spPr>
          <a:xfrm>
            <a:off x="812800" y="394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9" name="Firma"/>
          <p:cNvSpPr/>
          <p:nvPr/>
        </p:nvSpPr>
        <p:spPr>
          <a:xfrm>
            <a:off x="942800" y="394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grado()</a:t>
            </a:r>
            <a:endParaRPr lang="es-EC" sz="1200" dirty="0"/>
          </a:p>
        </p:txBody>
      </p:sp>
      <p:sp>
        <p:nvSpPr>
          <p:cNvPr id="20" name="Descripcion"/>
          <p:cNvSpPr/>
          <p:nvPr/>
        </p:nvSpPr>
        <p:spPr>
          <a:xfrm>
            <a:off x="3842800" y="394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cantidad de hijos: 0, 1 o 2</a:t>
            </a:r>
            <a:endParaRPr lang="es-EC" sz="1200" dirty="0"/>
          </a:p>
        </p:txBody>
      </p:sp>
      <p:sp>
        <p:nvSpPr>
          <p:cNvPr id="21" name="Fila"/>
          <p:cNvSpPr/>
          <p:nvPr/>
        </p:nvSpPr>
        <p:spPr>
          <a:xfrm>
            <a:off x="6496192" y="21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2" name="Firma"/>
          <p:cNvSpPr/>
          <p:nvPr/>
        </p:nvSpPr>
        <p:spPr>
          <a:xfrm>
            <a:off x="6626192" y="21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esVacio()</a:t>
            </a:r>
            <a:endParaRPr lang="es-EC" sz="1200" dirty="0"/>
          </a:p>
        </p:txBody>
      </p:sp>
      <p:sp>
        <p:nvSpPr>
          <p:cNvPr id="23" name="Descripcion"/>
          <p:cNvSpPr/>
          <p:nvPr/>
        </p:nvSpPr>
        <p:spPr>
          <a:xfrm>
            <a:off x="9526192" y="21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true si no hay raíz</a:t>
            </a:r>
            <a:endParaRPr lang="es-EC" sz="1200" dirty="0"/>
          </a:p>
        </p:txBody>
      </p:sp>
      <p:sp>
        <p:nvSpPr>
          <p:cNvPr id="24" name="Fila"/>
          <p:cNvSpPr/>
          <p:nvPr/>
        </p:nvSpPr>
        <p:spPr>
          <a:xfrm>
            <a:off x="6496192" y="25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5" name="Firma"/>
          <p:cNvSpPr/>
          <p:nvPr/>
        </p:nvSpPr>
        <p:spPr>
          <a:xfrm>
            <a:off x="6626192" y="25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getRaiz()</a:t>
            </a:r>
            <a:endParaRPr lang="es-EC" sz="1200" dirty="0"/>
          </a:p>
        </p:txBody>
      </p:sp>
      <p:sp>
        <p:nvSpPr>
          <p:cNvPr id="26" name="Descripcion"/>
          <p:cNvSpPr/>
          <p:nvPr/>
        </p:nvSpPr>
        <p:spPr>
          <a:xfrm>
            <a:off x="9526192" y="25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devuelve la raíz</a:t>
            </a:r>
            <a:endParaRPr lang="es-EC" sz="1200" dirty="0"/>
          </a:p>
        </p:txBody>
      </p:sp>
      <p:sp>
        <p:nvSpPr>
          <p:cNvPr id="27" name="Fila"/>
          <p:cNvSpPr/>
          <p:nvPr/>
        </p:nvSpPr>
        <p:spPr>
          <a:xfrm>
            <a:off x="6496192" y="30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8" name="Firma"/>
          <p:cNvSpPr/>
          <p:nvPr/>
        </p:nvSpPr>
        <p:spPr>
          <a:xfrm>
            <a:off x="6626192" y="30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crearRaiz(dato)</a:t>
            </a:r>
            <a:endParaRPr lang="es-EC" sz="1200" dirty="0"/>
          </a:p>
        </p:txBody>
      </p:sp>
      <p:sp>
        <p:nvSpPr>
          <p:cNvPr id="29" name="Descripcion"/>
          <p:cNvSpPr/>
          <p:nvPr/>
        </p:nvSpPr>
        <p:spPr>
          <a:xfrm>
            <a:off x="9526192" y="30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pone la primera raíz</a:t>
            </a:r>
            <a:endParaRPr lang="es-EC" sz="1200" dirty="0"/>
          </a:p>
        </p:txBody>
      </p:sp>
      <p:sp>
        <p:nvSpPr>
          <p:cNvPr id="30" name="Fila"/>
          <p:cNvSpPr/>
          <p:nvPr/>
        </p:nvSpPr>
        <p:spPr>
          <a:xfrm>
            <a:off x="6496192" y="348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1" name="Firma"/>
          <p:cNvSpPr/>
          <p:nvPr/>
        </p:nvSpPr>
        <p:spPr>
          <a:xfrm>
            <a:off x="6626192" y="348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agregarIzquierdo(padre, dato)</a:t>
            </a:r>
            <a:endParaRPr lang="es-EC" sz="1200" dirty="0"/>
          </a:p>
        </p:txBody>
      </p:sp>
      <p:sp>
        <p:nvSpPr>
          <p:cNvPr id="32" name="Descripcion"/>
          <p:cNvSpPr/>
          <p:nvPr/>
        </p:nvSpPr>
        <p:spPr>
          <a:xfrm>
            <a:off x="9526192" y="348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cuelga un hijo nuevo</a:t>
            </a:r>
            <a:endParaRPr lang="es-EC" sz="1200" dirty="0"/>
          </a:p>
        </p:txBody>
      </p:sp>
      <p:sp>
        <p:nvSpPr>
          <p:cNvPr id="33" name="Fila"/>
          <p:cNvSpPr/>
          <p:nvPr/>
        </p:nvSpPr>
        <p:spPr>
          <a:xfrm>
            <a:off x="6496192" y="394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4" name="Firma"/>
          <p:cNvSpPr/>
          <p:nvPr/>
        </p:nvSpPr>
        <p:spPr>
          <a:xfrm>
            <a:off x="6626192" y="394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agregarDerecho(padre, dato)</a:t>
            </a:r>
            <a:endParaRPr lang="es-EC" sz="1200" dirty="0"/>
          </a:p>
        </p:txBody>
      </p:sp>
      <p:sp>
        <p:nvSpPr>
          <p:cNvPr id="35" name="Descripcion"/>
          <p:cNvSpPr/>
          <p:nvPr/>
        </p:nvSpPr>
        <p:spPr>
          <a:xfrm>
            <a:off x="9526192" y="394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igual, del lado derecho</a:t>
            </a:r>
            <a:endParaRPr lang="es-EC" sz="1200" dirty="0"/>
          </a:p>
        </p:txBody>
      </p:sp>
      <p:sp>
        <p:nvSpPr>
          <p:cNvPr id="36" name="Fila"/>
          <p:cNvSpPr/>
          <p:nvPr/>
        </p:nvSpPr>
        <p:spPr>
          <a:xfrm>
            <a:off x="6496192" y="44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7" name="Firma"/>
          <p:cNvSpPr/>
          <p:nvPr/>
        </p:nvSpPr>
        <p:spPr>
          <a:xfrm>
            <a:off x="6626192" y="44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contarNodos()</a:t>
            </a:r>
            <a:endParaRPr lang="es-EC" sz="1200" dirty="0"/>
          </a:p>
        </p:txBody>
      </p:sp>
      <p:sp>
        <p:nvSpPr>
          <p:cNvPr id="38" name="Descripcion"/>
          <p:cNvSpPr/>
          <p:nvPr/>
        </p:nvSpPr>
        <p:spPr>
          <a:xfrm>
            <a:off x="9526192" y="44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cuenta todos los nodos</a:t>
            </a:r>
            <a:endParaRPr lang="es-EC" sz="1200" dirty="0"/>
          </a:p>
        </p:txBody>
      </p:sp>
      <p:sp>
        <p:nvSpPr>
          <p:cNvPr id="39" name="Fila"/>
          <p:cNvSpPr/>
          <p:nvPr/>
        </p:nvSpPr>
        <p:spPr>
          <a:xfrm>
            <a:off x="6496192" y="48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40" name="Firma"/>
          <p:cNvSpPr/>
          <p:nvPr/>
        </p:nvSpPr>
        <p:spPr>
          <a:xfrm>
            <a:off x="6626192" y="48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contarHojas()</a:t>
            </a:r>
            <a:endParaRPr lang="es-EC" sz="1200" dirty="0"/>
          </a:p>
        </p:txBody>
      </p:sp>
      <p:sp>
        <p:nvSpPr>
          <p:cNvPr id="41" name="Descripcion"/>
          <p:cNvSpPr/>
          <p:nvPr/>
        </p:nvSpPr>
        <p:spPr>
          <a:xfrm>
            <a:off x="9526192" y="48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cuenta las hojas</a:t>
            </a:r>
            <a:endParaRPr lang="es-EC" sz="1200" dirty="0"/>
          </a:p>
        </p:txBody>
      </p:sp>
      <p:sp>
        <p:nvSpPr>
          <p:cNvPr id="42" name="Fila"/>
          <p:cNvSpPr/>
          <p:nvPr/>
        </p:nvSpPr>
        <p:spPr>
          <a:xfrm>
            <a:off x="6496192" y="53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43" name="Firma"/>
          <p:cNvSpPr/>
          <p:nvPr/>
        </p:nvSpPr>
        <p:spPr>
          <a:xfrm>
            <a:off x="6626192" y="53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altura()</a:t>
            </a:r>
            <a:endParaRPr lang="es-EC" sz="1200" dirty="0"/>
          </a:p>
        </p:txBody>
      </p:sp>
      <p:sp>
        <p:nvSpPr>
          <p:cNvPr id="44" name="Descripcion"/>
          <p:cNvSpPr/>
          <p:nvPr/>
        </p:nvSpPr>
        <p:spPr>
          <a:xfrm>
            <a:off x="9526192" y="53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camino más largo, en aristas</a:t>
            </a:r>
            <a:endParaRPr lang="es-EC" sz="1200" dirty="0"/>
          </a:p>
        </p:txBody>
      </p:sp>
      <p:sp>
        <p:nvSpPr>
          <p:cNvPr id="45" name="Titulo capas"/>
          <p:cNvSpPr/>
          <p:nvPr/>
        </p:nvSpPr>
        <p:spPr>
          <a:xfrm>
            <a:off x="812800" y="462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LAS TRES CAPAS</a:t>
            </a:r>
            <a:endParaRPr lang="es-EC" sz="1300" dirty="0"/>
          </a:p>
        </p:txBody>
      </p:sp>
      <p:sp>
        <p:nvSpPr>
          <p:cNvPr id="46" name="Capa app"/>
          <p:cNvSpPr/>
          <p:nvPr/>
        </p:nvSpPr>
        <p:spPr>
          <a:xfrm>
            <a:off x="8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app</a:t>
            </a:r>
            <a:endParaRPr lang="es-EC" sz="1400" dirty="0"/>
          </a:p>
        </p:txBody>
      </p:sp>
      <p:sp>
        <p:nvSpPr>
          <p:cNvPr id="47" name="Capa negocio"/>
          <p:cNvSpPr/>
          <p:nvPr/>
        </p:nvSpPr>
        <p:spPr>
          <a:xfrm>
            <a:off x="26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negocio</a:t>
            </a:r>
            <a:endParaRPr lang="es-EC" sz="1400" dirty="0"/>
          </a:p>
        </p:txBody>
      </p:sp>
      <p:sp>
        <p:nvSpPr>
          <p:cNvPr id="48" name="Capa modelo"/>
          <p:cNvSpPr/>
          <p:nvPr/>
        </p:nvSpPr>
        <p:spPr>
          <a:xfrm>
            <a:off x="44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modelo</a:t>
            </a:r>
            <a:endParaRPr lang="es-EC" sz="1400" dirty="0"/>
          </a:p>
        </p:txBody>
      </p:sp>
      <p:cxnSp>
        <p:nvCxnSpPr>
          <p:cNvPr id="49" name="Flecha"/>
          <p:cNvCxnSpPr/>
          <p:nvPr/>
        </p:nvCxnSpPr>
        <p:spPr>
          <a:xfrm>
            <a:off x="2112800" y="5225000"/>
            <a:ext cx="500000" cy="0"/>
          </a:xfrm>
          <a:prstGeom prst="line">
            <a:avLst/>
          </a:prstGeom>
          <a:ln w="19050">
            <a:solidFill>
              <a:srgbClr val="1F7A66"/>
            </a:solidFill>
            <a:prstDash val="solid"/>
            <a:tailEnd type="triangle" w="med" len="med"/>
          </a:ln>
        </p:spPr>
      </p:cxnSp>
      <p:cxnSp>
        <p:nvCxnSpPr>
          <p:cNvPr id="50" name="Flecha"/>
          <p:cNvCxnSpPr/>
          <p:nvPr/>
        </p:nvCxnSpPr>
        <p:spPr>
          <a:xfrm>
            <a:off x="3912800" y="5225000"/>
            <a:ext cx="500000" cy="0"/>
          </a:xfrm>
          <a:prstGeom prst="line">
            <a:avLst/>
          </a:prstGeom>
          <a:ln w="19050">
            <a:solidFill>
              <a:srgbClr val="1F7A66"/>
            </a:solidFill>
            <a:prstDash val="solid"/>
            <a:tailEnd type="triangle" w="med" len="med"/>
          </a:ln>
        </p:spPr>
      </p:cxnSp>
      <p:sp>
        <p:nvSpPr>
          <p:cNvPr id="51" name="Nota"/>
          <p:cNvSpPr/>
          <p:nvPr/>
        </p:nvSpPr>
        <p:spPr>
          <a:xfrm>
            <a:off x="812800" y="5600000"/>
            <a:ext cx="5200000" cy="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Cada capa solo usa a la siguiente.</a:t>
            </a:r>
            <a:endParaRPr lang="es-EC" sz="1400" dirty="0"/>
          </a:p>
        </p:txBody>
      </p:sp>
      <p:sp>
        <p:nvSpPr>
          <p:cNvPr id="52"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53"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9 / 17</a:t>
            </a:r>
            <a:endParaRPr lang="es-EC"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Raiz y agregar">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crearRaiz() y agregarIzquierdo()</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Nodo&lt;T&gt; crearRaiz(T dato)</a:t>
            </a:r>
            <a:endParaRPr lang="es-EC" sz="1300" dirty="0"/>
          </a:p>
        </p:txBody>
      </p:sp>
      <p:sp>
        <p:nvSpPr>
          <p:cNvPr id="5" name="Terminal"/>
          <p:cNvSpPr/>
          <p:nvPr/>
        </p:nvSpPr>
        <p:spPr>
          <a:xfrm>
            <a:off x="20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2800000" y="2530000"/>
            <a:ext cx="0" cy="220000"/>
          </a:xfrm>
          <a:prstGeom prst="line">
            <a:avLst/>
          </a:prstGeom>
          <a:ln w="19050">
            <a:solidFill>
              <a:srgbClr val="1F7A66"/>
            </a:solidFill>
            <a:prstDash val="solid"/>
            <a:tailEnd type="triangle" w="med" len="med"/>
          </a:ln>
        </p:spPr>
      </p:cxnSp>
      <p:sp>
        <p:nvSpPr>
          <p:cNvPr id="7" name="Decision"/>
          <p:cNvSpPr/>
          <p:nvPr/>
        </p:nvSpPr>
        <p:spPr>
          <a:xfrm>
            <a:off x="1500000" y="2750000"/>
            <a:ext cx="2600000" cy="8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1864000" y="2894000"/>
            <a:ext cx="1872000" cy="512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raiz != null?</a:t>
            </a:r>
            <a:endParaRPr lang="es-EC" sz="1300" dirty="0"/>
          </a:p>
        </p:txBody>
      </p:sp>
      <p:cxnSp>
        <p:nvCxnSpPr>
          <p:cNvPr id="9" name="Flecha"/>
          <p:cNvCxnSpPr/>
          <p:nvPr/>
        </p:nvCxnSpPr>
        <p:spPr>
          <a:xfrm>
            <a:off x="4100000" y="3150000"/>
            <a:ext cx="250000" cy="0"/>
          </a:xfrm>
          <a:prstGeom prst="line">
            <a:avLst/>
          </a:prstGeom>
          <a:ln w="19050">
            <a:solidFill>
              <a:srgbClr val="1F7A66"/>
            </a:solidFill>
            <a:prstDash val="solid"/>
            <a:tailEnd type="triangle" w="med" len="med"/>
          </a:ln>
        </p:spPr>
      </p:cxnSp>
      <p:sp>
        <p:nvSpPr>
          <p:cNvPr id="10" name="Rama"/>
          <p:cNvSpPr/>
          <p:nvPr/>
        </p:nvSpPr>
        <p:spPr>
          <a:xfrm>
            <a:off x="4099999" y="28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Error"/>
          <p:cNvSpPr/>
          <p:nvPr/>
        </p:nvSpPr>
        <p:spPr>
          <a:xfrm>
            <a:off x="4350000" y="2800000"/>
            <a:ext cx="1700000" cy="70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árbol</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ya tiene raíz</a:t>
            </a:r>
            <a:endParaRPr lang="es-EC" sz="1200" dirty="0"/>
          </a:p>
        </p:txBody>
      </p:sp>
      <p:cxnSp>
        <p:nvCxnSpPr>
          <p:cNvPr id="12" name="Flecha"/>
          <p:cNvCxnSpPr/>
          <p:nvPr/>
        </p:nvCxnSpPr>
        <p:spPr>
          <a:xfrm>
            <a:off x="2800000" y="3550000"/>
            <a:ext cx="0" cy="350000"/>
          </a:xfrm>
          <a:prstGeom prst="line">
            <a:avLst/>
          </a:prstGeom>
          <a:ln w="19050">
            <a:solidFill>
              <a:srgbClr val="1F7A66"/>
            </a:solidFill>
            <a:prstDash val="solid"/>
            <a:tailEnd type="triangle" w="med" len="med"/>
          </a:ln>
        </p:spPr>
      </p:cxnSp>
      <p:sp>
        <p:nvSpPr>
          <p:cNvPr id="13" name="Rama"/>
          <p:cNvSpPr/>
          <p:nvPr/>
        </p:nvSpPr>
        <p:spPr>
          <a:xfrm>
            <a:off x="2900000" y="35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Proceso"/>
          <p:cNvSpPr/>
          <p:nvPr/>
        </p:nvSpPr>
        <p:spPr>
          <a:xfrm>
            <a:off x="1450000" y="3899999"/>
            <a:ext cx="2700000" cy="4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raiz = new Nodo(dato)</a:t>
            </a:r>
            <a:endParaRPr lang="es-EC" sz="1300" dirty="0"/>
          </a:p>
        </p:txBody>
      </p:sp>
      <p:cxnSp>
        <p:nvCxnSpPr>
          <p:cNvPr id="15" name="Flecha"/>
          <p:cNvCxnSpPr/>
          <p:nvPr/>
        </p:nvCxnSpPr>
        <p:spPr>
          <a:xfrm>
            <a:off x="2800000" y="4300000"/>
            <a:ext cx="0" cy="250000"/>
          </a:xfrm>
          <a:prstGeom prst="line">
            <a:avLst/>
          </a:prstGeom>
          <a:ln w="19050">
            <a:solidFill>
              <a:srgbClr val="1F7A66"/>
            </a:solidFill>
            <a:prstDash val="solid"/>
            <a:tailEnd type="triangle" w="med" len="med"/>
          </a:ln>
        </p:spPr>
      </p:cxnSp>
      <p:sp>
        <p:nvSpPr>
          <p:cNvPr id="16" name="Terminal"/>
          <p:cNvSpPr/>
          <p:nvPr/>
        </p:nvSpPr>
        <p:spPr>
          <a:xfrm>
            <a:off x="1900000" y="4550000"/>
            <a:ext cx="18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raiz</a:t>
            </a:r>
            <a:endParaRPr lang="es-EC" sz="1200" dirty="0"/>
          </a:p>
        </p:txBody>
      </p:sp>
      <p:sp>
        <p:nvSpPr>
          <p:cNvPr id="17" name="Nota"/>
          <p:cNvSpPr/>
          <p:nvPr/>
        </p:nvSpPr>
        <p:spPr>
          <a:xfrm>
            <a:off x="812800" y="5300000"/>
            <a:ext cx="50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agregarDerecho() hace lo mismo con el lado derecho.</a:t>
            </a:r>
            <a:endParaRPr lang="es-EC" sz="1500" dirty="0"/>
          </a:p>
        </p:txBody>
      </p:sp>
      <p:sp>
        <p:nvSpPr>
          <p:cNvPr id="18"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Nodo&lt;T&gt; agregarIzquierdo(padre, dato)</a:t>
            </a:r>
            <a:endParaRPr lang="es-EC" sz="1300" dirty="0"/>
          </a:p>
        </p:txBody>
      </p:sp>
      <p:sp>
        <p:nvSpPr>
          <p:cNvPr id="19" name="Terminal"/>
          <p:cNvSpPr/>
          <p:nvPr/>
        </p:nvSpPr>
        <p:spPr>
          <a:xfrm>
            <a:off x="720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20" name="Flecha"/>
          <p:cNvCxnSpPr/>
          <p:nvPr/>
        </p:nvCxnSpPr>
        <p:spPr>
          <a:xfrm>
            <a:off x="7950000" y="2530000"/>
            <a:ext cx="0" cy="220000"/>
          </a:xfrm>
          <a:prstGeom prst="line">
            <a:avLst/>
          </a:prstGeom>
          <a:ln w="19050">
            <a:solidFill>
              <a:srgbClr val="1F7A66"/>
            </a:solidFill>
            <a:prstDash val="solid"/>
            <a:tailEnd type="triangle" w="med" len="med"/>
          </a:ln>
        </p:spPr>
      </p:cxnSp>
      <p:sp>
        <p:nvSpPr>
          <p:cNvPr id="21" name="Decision"/>
          <p:cNvSpPr/>
          <p:nvPr/>
        </p:nvSpPr>
        <p:spPr>
          <a:xfrm>
            <a:off x="6450000" y="2750000"/>
            <a:ext cx="30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2" name="Texto decision"/>
          <p:cNvSpPr/>
          <p:nvPr/>
        </p:nvSpPr>
        <p:spPr>
          <a:xfrm>
            <a:off x="6870000" y="2876000"/>
            <a:ext cx="2160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padre == null?</a:t>
            </a:r>
            <a:endParaRPr lang="es-EC" sz="1300" dirty="0"/>
          </a:p>
        </p:txBody>
      </p:sp>
      <p:cxnSp>
        <p:nvCxnSpPr>
          <p:cNvPr id="23" name="Flecha"/>
          <p:cNvCxnSpPr/>
          <p:nvPr/>
        </p:nvCxnSpPr>
        <p:spPr>
          <a:xfrm>
            <a:off x="9450000" y="3100000"/>
            <a:ext cx="250000" cy="0"/>
          </a:xfrm>
          <a:prstGeom prst="line">
            <a:avLst/>
          </a:prstGeom>
          <a:ln w="19050">
            <a:solidFill>
              <a:srgbClr val="1F7A66"/>
            </a:solidFill>
            <a:prstDash val="solid"/>
            <a:tailEnd type="triangle" w="med" len="med"/>
          </a:ln>
        </p:spPr>
      </p:cxnSp>
      <p:sp>
        <p:nvSpPr>
          <p:cNvPr id="24" name="Rama"/>
          <p:cNvSpPr/>
          <p:nvPr/>
        </p:nvSpPr>
        <p:spPr>
          <a:xfrm>
            <a:off x="9420000" y="284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5" name="Error"/>
          <p:cNvSpPr/>
          <p:nvPr/>
        </p:nvSpPr>
        <p:spPr>
          <a:xfrm>
            <a:off x="9700000" y="2790000"/>
            <a:ext cx="1950000" cy="62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padre</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no puede ser null</a:t>
            </a:r>
            <a:endParaRPr lang="es-EC" sz="1200" dirty="0"/>
          </a:p>
        </p:txBody>
      </p:sp>
      <p:cxnSp>
        <p:nvCxnSpPr>
          <p:cNvPr id="26" name="Flecha"/>
          <p:cNvCxnSpPr/>
          <p:nvPr/>
        </p:nvCxnSpPr>
        <p:spPr>
          <a:xfrm>
            <a:off x="7950000" y="3450000"/>
            <a:ext cx="0" cy="200000"/>
          </a:xfrm>
          <a:prstGeom prst="line">
            <a:avLst/>
          </a:prstGeom>
          <a:ln w="19050">
            <a:solidFill>
              <a:srgbClr val="1F7A66"/>
            </a:solidFill>
            <a:prstDash val="solid"/>
            <a:tailEnd type="triangle" w="med" len="med"/>
          </a:ln>
        </p:spPr>
      </p:cxnSp>
      <p:sp>
        <p:nvSpPr>
          <p:cNvPr id="27" name="Rama"/>
          <p:cNvSpPr/>
          <p:nvPr/>
        </p:nvSpPr>
        <p:spPr>
          <a:xfrm>
            <a:off x="8050000" y="3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28" name="Decision"/>
          <p:cNvSpPr/>
          <p:nvPr/>
        </p:nvSpPr>
        <p:spPr>
          <a:xfrm>
            <a:off x="6450000" y="3650000"/>
            <a:ext cx="3000000" cy="8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9" name="Texto decision"/>
          <p:cNvSpPr/>
          <p:nvPr/>
        </p:nvSpPr>
        <p:spPr>
          <a:xfrm>
            <a:off x="6870000" y="3794000"/>
            <a:ext cx="2160000" cy="5120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padre.izquierdo != null?</a:t>
            </a:r>
            <a:endParaRPr lang="es-EC" sz="1200" dirty="0"/>
          </a:p>
        </p:txBody>
      </p:sp>
      <p:cxnSp>
        <p:nvCxnSpPr>
          <p:cNvPr id="30" name="Flecha"/>
          <p:cNvCxnSpPr/>
          <p:nvPr/>
        </p:nvCxnSpPr>
        <p:spPr>
          <a:xfrm>
            <a:off x="9450000" y="4050000"/>
            <a:ext cx="250000" cy="0"/>
          </a:xfrm>
          <a:prstGeom prst="line">
            <a:avLst/>
          </a:prstGeom>
          <a:ln w="19050">
            <a:solidFill>
              <a:srgbClr val="1F7A66"/>
            </a:solidFill>
            <a:prstDash val="solid"/>
            <a:tailEnd type="triangle" w="med" len="med"/>
          </a:ln>
        </p:spPr>
      </p:cxnSp>
      <p:sp>
        <p:nvSpPr>
          <p:cNvPr id="31" name="Rama"/>
          <p:cNvSpPr/>
          <p:nvPr/>
        </p:nvSpPr>
        <p:spPr>
          <a:xfrm>
            <a:off x="9420000" y="379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2" name="Error"/>
          <p:cNvSpPr/>
          <p:nvPr/>
        </p:nvSpPr>
        <p:spPr>
          <a:xfrm>
            <a:off x="9700000" y="3740000"/>
            <a:ext cx="1950000" cy="62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lugar</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ya está ocupado</a:t>
            </a:r>
            <a:endParaRPr lang="es-EC" sz="1200" dirty="0"/>
          </a:p>
        </p:txBody>
      </p:sp>
      <p:cxnSp>
        <p:nvCxnSpPr>
          <p:cNvPr id="33" name="Flecha"/>
          <p:cNvCxnSpPr/>
          <p:nvPr/>
        </p:nvCxnSpPr>
        <p:spPr>
          <a:xfrm>
            <a:off x="7950000" y="4450000"/>
            <a:ext cx="0" cy="250000"/>
          </a:xfrm>
          <a:prstGeom prst="line">
            <a:avLst/>
          </a:prstGeom>
          <a:ln w="19050">
            <a:solidFill>
              <a:srgbClr val="1F7A66"/>
            </a:solidFill>
            <a:prstDash val="solid"/>
            <a:tailEnd type="triangle" w="med" len="med"/>
          </a:ln>
        </p:spPr>
      </p:cxnSp>
      <p:sp>
        <p:nvSpPr>
          <p:cNvPr id="34" name="Rama"/>
          <p:cNvSpPr/>
          <p:nvPr/>
        </p:nvSpPr>
        <p:spPr>
          <a:xfrm>
            <a:off x="8050000" y="446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5" name="Proceso"/>
          <p:cNvSpPr/>
          <p:nvPr/>
        </p:nvSpPr>
        <p:spPr>
          <a:xfrm>
            <a:off x="6300000" y="4700000"/>
            <a:ext cx="3300000" cy="6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nuevo = new Nodo(dato)</a:t>
            </a:r>
            <a:endParaRPr lang="es-EC" sz="1300" dirty="0"/>
          </a:p>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padre.setIzquierdo(nuevo)</a:t>
            </a:r>
            <a:endParaRPr lang="es-EC" sz="1300" dirty="0"/>
          </a:p>
        </p:txBody>
      </p:sp>
      <p:cxnSp>
        <p:nvCxnSpPr>
          <p:cNvPr id="36" name="Flecha"/>
          <p:cNvCxnSpPr/>
          <p:nvPr/>
        </p:nvCxnSpPr>
        <p:spPr>
          <a:xfrm>
            <a:off x="7950000" y="5300000"/>
            <a:ext cx="0" cy="200000"/>
          </a:xfrm>
          <a:prstGeom prst="line">
            <a:avLst/>
          </a:prstGeom>
          <a:ln w="19050">
            <a:solidFill>
              <a:srgbClr val="1F7A66"/>
            </a:solidFill>
            <a:prstDash val="solid"/>
            <a:tailEnd type="triangle" w="med" len="med"/>
          </a:ln>
        </p:spPr>
      </p:cxnSp>
      <p:sp>
        <p:nvSpPr>
          <p:cNvPr id="37" name="Terminal"/>
          <p:cNvSpPr/>
          <p:nvPr/>
        </p:nvSpPr>
        <p:spPr>
          <a:xfrm>
            <a:off x="7050000" y="5500000"/>
            <a:ext cx="18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nuevo</a:t>
            </a:r>
            <a:endParaRPr lang="es-EC" sz="1200" dirty="0"/>
          </a:p>
        </p:txBody>
      </p:sp>
      <p:sp>
        <p:nvSpPr>
          <p:cNvPr id="38"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9"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10 / 17</a:t>
            </a:r>
            <a:endParaRPr lang="es-EC"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ontar">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contarNodos() y contarHojas()</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contarNodos(Nodo&lt;T&gt; nodo)</a:t>
            </a:r>
            <a:endParaRPr lang="es-EC" sz="1300" dirty="0"/>
          </a:p>
        </p:txBody>
      </p:sp>
      <p:sp>
        <p:nvSpPr>
          <p:cNvPr id="5" name="Terminal"/>
          <p:cNvSpPr/>
          <p:nvPr/>
        </p:nvSpPr>
        <p:spPr>
          <a:xfrm>
            <a:off x="26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3400000" y="2530000"/>
            <a:ext cx="0" cy="170000"/>
          </a:xfrm>
          <a:prstGeom prst="line">
            <a:avLst/>
          </a:prstGeom>
          <a:ln w="19050">
            <a:solidFill>
              <a:srgbClr val="1F7A66"/>
            </a:solidFill>
            <a:prstDash val="solid"/>
            <a:tailEnd type="triangle" w="med" len="med"/>
          </a:ln>
        </p:spPr>
      </p:cxnSp>
      <p:sp>
        <p:nvSpPr>
          <p:cNvPr id="7" name="Decision"/>
          <p:cNvSpPr/>
          <p:nvPr/>
        </p:nvSpPr>
        <p:spPr>
          <a:xfrm>
            <a:off x="21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24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9" name="Flecha"/>
          <p:cNvCxnSpPr/>
          <p:nvPr/>
        </p:nvCxnSpPr>
        <p:spPr>
          <a:xfrm>
            <a:off x="4700000" y="3050000"/>
            <a:ext cx="300000" cy="0"/>
          </a:xfrm>
          <a:prstGeom prst="line">
            <a:avLst/>
          </a:prstGeom>
          <a:ln w="19050">
            <a:solidFill>
              <a:srgbClr val="1F7A66"/>
            </a:solidFill>
            <a:prstDash val="solid"/>
            <a:tailEnd type="triangle" w="med" len="med"/>
          </a:ln>
        </p:spPr>
      </p:cxnSp>
      <p:sp>
        <p:nvSpPr>
          <p:cNvPr id="10" name="Rama"/>
          <p:cNvSpPr/>
          <p:nvPr/>
        </p:nvSpPr>
        <p:spPr>
          <a:xfrm>
            <a:off x="47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Terminal"/>
          <p:cNvSpPr/>
          <p:nvPr/>
        </p:nvSpPr>
        <p:spPr>
          <a:xfrm>
            <a:off x="50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0</a:t>
            </a:r>
            <a:endParaRPr lang="es-EC" sz="1200" dirty="0"/>
          </a:p>
        </p:txBody>
      </p:sp>
      <p:cxnSp>
        <p:nvCxnSpPr>
          <p:cNvPr id="12" name="Flecha"/>
          <p:cNvCxnSpPr/>
          <p:nvPr/>
        </p:nvCxnSpPr>
        <p:spPr>
          <a:xfrm>
            <a:off x="3400000" y="3400000"/>
            <a:ext cx="0" cy="450000"/>
          </a:xfrm>
          <a:prstGeom prst="line">
            <a:avLst/>
          </a:prstGeom>
          <a:ln w="19050">
            <a:solidFill>
              <a:srgbClr val="1F7A66"/>
            </a:solidFill>
            <a:prstDash val="solid"/>
            <a:tailEnd type="triangle" w="med" len="med"/>
          </a:ln>
        </p:spPr>
      </p:cxnSp>
      <p:sp>
        <p:nvSpPr>
          <p:cNvPr id="13" name="Rama"/>
          <p:cNvSpPr/>
          <p:nvPr/>
        </p:nvSpPr>
        <p:spPr>
          <a:xfrm>
            <a:off x="3500000" y="345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Retorno"/>
          <p:cNvSpPr/>
          <p:nvPr/>
        </p:nvSpPr>
        <p:spPr>
          <a:xfrm>
            <a:off x="1550000" y="3875000"/>
            <a:ext cx="3700000" cy="950000"/>
          </a:xfrm>
          <a:prstGeom prst="roundRect">
            <a:avLst>
              <a:gd name="adj" fmla="val 18000"/>
            </a:avLst>
          </a:prstGeom>
          <a:solidFill>
            <a:srgbClr val="1F7A66"/>
          </a:solidFill>
          <a:ln w="12700">
            <a:solidFill>
              <a:srgbClr val="1F7A66"/>
            </a:solidFill>
            <a:prstDash val="solid"/>
          </a:ln>
        </p:spPr>
        <p:txBody>
          <a:bodyPr wrap="square" lIns="60000" tIns="20000" rIns="60000" bIns="2000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devolver 1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contarNodos(izquierdo)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contarNodos(derecho)</a:t>
            </a:r>
            <a:endParaRPr lang="es-EC" sz="1300" dirty="0"/>
          </a:p>
        </p:txBody>
      </p:sp>
      <p:sp>
        <p:nvSpPr>
          <p:cNvPr id="15" name="Nota"/>
          <p:cNvSpPr/>
          <p:nvPr/>
        </p:nvSpPr>
        <p:spPr>
          <a:xfrm>
            <a:off x="812800" y="5100000"/>
            <a:ext cx="52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Cada llamada resuelve un subárbol más pequeño, hasta llegar a null.</a:t>
            </a:r>
            <a:endParaRPr lang="es-EC" sz="1500" dirty="0"/>
          </a:p>
        </p:txBody>
      </p:sp>
      <p:sp>
        <p:nvSpPr>
          <p:cNvPr id="16"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contarHojas(Nodo&lt;T&gt; nodo)</a:t>
            </a:r>
            <a:endParaRPr lang="es-EC" sz="1300" dirty="0"/>
          </a:p>
        </p:txBody>
      </p:sp>
      <p:sp>
        <p:nvSpPr>
          <p:cNvPr id="17" name="Terminal"/>
          <p:cNvSpPr/>
          <p:nvPr/>
        </p:nvSpPr>
        <p:spPr>
          <a:xfrm>
            <a:off x="81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18" name="Flecha"/>
          <p:cNvCxnSpPr/>
          <p:nvPr/>
        </p:nvCxnSpPr>
        <p:spPr>
          <a:xfrm>
            <a:off x="8900000" y="2530000"/>
            <a:ext cx="0" cy="170000"/>
          </a:xfrm>
          <a:prstGeom prst="line">
            <a:avLst/>
          </a:prstGeom>
          <a:ln w="19050">
            <a:solidFill>
              <a:srgbClr val="1F7A66"/>
            </a:solidFill>
            <a:prstDash val="solid"/>
            <a:tailEnd type="triangle" w="med" len="med"/>
          </a:ln>
        </p:spPr>
      </p:cxnSp>
      <p:sp>
        <p:nvSpPr>
          <p:cNvPr id="19" name="Decision"/>
          <p:cNvSpPr/>
          <p:nvPr/>
        </p:nvSpPr>
        <p:spPr>
          <a:xfrm>
            <a:off x="76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0" name="Texto decision"/>
          <p:cNvSpPr/>
          <p:nvPr/>
        </p:nvSpPr>
        <p:spPr>
          <a:xfrm>
            <a:off x="79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21" name="Flecha"/>
          <p:cNvCxnSpPr/>
          <p:nvPr/>
        </p:nvCxnSpPr>
        <p:spPr>
          <a:xfrm>
            <a:off x="10200000" y="3050000"/>
            <a:ext cx="300000" cy="0"/>
          </a:xfrm>
          <a:prstGeom prst="line">
            <a:avLst/>
          </a:prstGeom>
          <a:ln w="19050">
            <a:solidFill>
              <a:srgbClr val="1F7A66"/>
            </a:solidFill>
            <a:prstDash val="solid"/>
            <a:tailEnd type="triangle" w="med" len="med"/>
          </a:ln>
        </p:spPr>
      </p:cxnSp>
      <p:sp>
        <p:nvSpPr>
          <p:cNvPr id="22" name="Rama"/>
          <p:cNvSpPr/>
          <p:nvPr/>
        </p:nvSpPr>
        <p:spPr>
          <a:xfrm>
            <a:off x="102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3" name="Terminal"/>
          <p:cNvSpPr/>
          <p:nvPr/>
        </p:nvSpPr>
        <p:spPr>
          <a:xfrm>
            <a:off x="105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0</a:t>
            </a:r>
            <a:endParaRPr lang="es-EC" sz="1200" dirty="0"/>
          </a:p>
        </p:txBody>
      </p:sp>
      <p:cxnSp>
        <p:nvCxnSpPr>
          <p:cNvPr id="24" name="Flecha"/>
          <p:cNvCxnSpPr/>
          <p:nvPr/>
        </p:nvCxnSpPr>
        <p:spPr>
          <a:xfrm>
            <a:off x="8900000" y="3400000"/>
            <a:ext cx="0" cy="300000"/>
          </a:xfrm>
          <a:prstGeom prst="line">
            <a:avLst/>
          </a:prstGeom>
          <a:ln w="19050">
            <a:solidFill>
              <a:srgbClr val="1F7A66"/>
            </a:solidFill>
            <a:prstDash val="solid"/>
            <a:tailEnd type="triangle" w="med" len="med"/>
          </a:ln>
        </p:spPr>
      </p:cxnSp>
      <p:sp>
        <p:nvSpPr>
          <p:cNvPr id="25" name="Rama"/>
          <p:cNvSpPr/>
          <p:nvPr/>
        </p:nvSpPr>
        <p:spPr>
          <a:xfrm>
            <a:off x="9000000" y="3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26" name="Decision"/>
          <p:cNvSpPr/>
          <p:nvPr/>
        </p:nvSpPr>
        <p:spPr>
          <a:xfrm>
            <a:off x="7600000" y="3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7" name="Texto decision"/>
          <p:cNvSpPr/>
          <p:nvPr/>
        </p:nvSpPr>
        <p:spPr>
          <a:xfrm>
            <a:off x="7964000" y="3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nodo.esHoja()?</a:t>
            </a:r>
            <a:endParaRPr lang="es-EC" sz="1300" dirty="0"/>
          </a:p>
        </p:txBody>
      </p:sp>
      <p:cxnSp>
        <p:nvCxnSpPr>
          <p:cNvPr id="28" name="Flecha"/>
          <p:cNvCxnSpPr/>
          <p:nvPr/>
        </p:nvCxnSpPr>
        <p:spPr>
          <a:xfrm>
            <a:off x="10200000" y="4050000"/>
            <a:ext cx="300000" cy="0"/>
          </a:xfrm>
          <a:prstGeom prst="line">
            <a:avLst/>
          </a:prstGeom>
          <a:ln w="19050">
            <a:solidFill>
              <a:srgbClr val="1F7A66"/>
            </a:solidFill>
            <a:prstDash val="solid"/>
            <a:tailEnd type="triangle" w="med" len="med"/>
          </a:ln>
        </p:spPr>
      </p:cxnSp>
      <p:sp>
        <p:nvSpPr>
          <p:cNvPr id="29" name="Rama"/>
          <p:cNvSpPr/>
          <p:nvPr/>
        </p:nvSpPr>
        <p:spPr>
          <a:xfrm>
            <a:off x="10250000" y="3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0" name="Terminal"/>
          <p:cNvSpPr/>
          <p:nvPr/>
        </p:nvSpPr>
        <p:spPr>
          <a:xfrm>
            <a:off x="10500000" y="3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a:t>
            </a:r>
            <a:endParaRPr lang="es-EC" sz="1200" dirty="0"/>
          </a:p>
        </p:txBody>
      </p:sp>
      <p:cxnSp>
        <p:nvCxnSpPr>
          <p:cNvPr id="31" name="Flecha"/>
          <p:cNvCxnSpPr/>
          <p:nvPr/>
        </p:nvCxnSpPr>
        <p:spPr>
          <a:xfrm>
            <a:off x="8900000" y="4400000"/>
            <a:ext cx="0" cy="350000"/>
          </a:xfrm>
          <a:prstGeom prst="line">
            <a:avLst/>
          </a:prstGeom>
          <a:ln w="19050">
            <a:solidFill>
              <a:srgbClr val="1F7A66"/>
            </a:solidFill>
            <a:prstDash val="solid"/>
            <a:tailEnd type="triangle" w="med" len="med"/>
          </a:ln>
        </p:spPr>
      </p:cxnSp>
      <p:sp>
        <p:nvSpPr>
          <p:cNvPr id="32" name="Rama"/>
          <p:cNvSpPr/>
          <p:nvPr/>
        </p:nvSpPr>
        <p:spPr>
          <a:xfrm>
            <a:off x="9000000" y="4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3" name="Retorno"/>
          <p:cNvSpPr/>
          <p:nvPr/>
        </p:nvSpPr>
        <p:spPr>
          <a:xfrm>
            <a:off x="6950000" y="4775000"/>
            <a:ext cx="3900000" cy="950000"/>
          </a:xfrm>
          <a:prstGeom prst="roundRect">
            <a:avLst>
              <a:gd name="adj" fmla="val 18000"/>
            </a:avLst>
          </a:prstGeom>
          <a:solidFill>
            <a:srgbClr val="1F7A66"/>
          </a:solidFill>
          <a:ln w="12700">
            <a:solidFill>
              <a:srgbClr val="1F7A66"/>
            </a:solidFill>
            <a:prstDash val="solid"/>
          </a:ln>
        </p:spPr>
        <p:txBody>
          <a:bodyPr wrap="square" lIns="60000" tIns="20000" rIns="60000" bIns="2000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devolver contarHojas(izquierdo)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contarHojas(derecho)</a:t>
            </a:r>
            <a:endParaRPr lang="es-EC" sz="1300" dirty="0"/>
          </a:p>
        </p:txBody>
      </p:sp>
      <p:sp>
        <p:nvSpPr>
          <p:cNvPr id="34"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5"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11 / 17</a:t>
            </a:r>
            <a:endParaRPr lang="es-EC"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ltura">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altura()</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altura(Nodo&lt;T&gt; nodo)</a:t>
            </a:r>
            <a:endParaRPr lang="es-EC" sz="1300" dirty="0"/>
          </a:p>
        </p:txBody>
      </p:sp>
      <p:sp>
        <p:nvSpPr>
          <p:cNvPr id="5" name="Terminal"/>
          <p:cNvSpPr/>
          <p:nvPr/>
        </p:nvSpPr>
        <p:spPr>
          <a:xfrm>
            <a:off x="26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3400000" y="2530000"/>
            <a:ext cx="0" cy="170000"/>
          </a:xfrm>
          <a:prstGeom prst="line">
            <a:avLst/>
          </a:prstGeom>
          <a:ln w="19050">
            <a:solidFill>
              <a:srgbClr val="1F7A66"/>
            </a:solidFill>
            <a:prstDash val="solid"/>
            <a:tailEnd type="triangle" w="med" len="med"/>
          </a:ln>
        </p:spPr>
      </p:cxnSp>
      <p:sp>
        <p:nvSpPr>
          <p:cNvPr id="7" name="Decision"/>
          <p:cNvSpPr/>
          <p:nvPr/>
        </p:nvSpPr>
        <p:spPr>
          <a:xfrm>
            <a:off x="21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24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9" name="Flecha"/>
          <p:cNvCxnSpPr/>
          <p:nvPr/>
        </p:nvCxnSpPr>
        <p:spPr>
          <a:xfrm>
            <a:off x="4700000" y="3050000"/>
            <a:ext cx="300000" cy="0"/>
          </a:xfrm>
          <a:prstGeom prst="line">
            <a:avLst/>
          </a:prstGeom>
          <a:ln w="19050">
            <a:solidFill>
              <a:srgbClr val="1F7A66"/>
            </a:solidFill>
            <a:prstDash val="solid"/>
            <a:tailEnd type="triangle" w="med" len="med"/>
          </a:ln>
        </p:spPr>
      </p:cxnSp>
      <p:sp>
        <p:nvSpPr>
          <p:cNvPr id="10" name="Rama"/>
          <p:cNvSpPr/>
          <p:nvPr/>
        </p:nvSpPr>
        <p:spPr>
          <a:xfrm>
            <a:off x="47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Terminal"/>
          <p:cNvSpPr/>
          <p:nvPr/>
        </p:nvSpPr>
        <p:spPr>
          <a:xfrm>
            <a:off x="50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a:t>
            </a:r>
            <a:endParaRPr lang="es-EC" sz="1200" dirty="0"/>
          </a:p>
        </p:txBody>
      </p:sp>
      <p:cxnSp>
        <p:nvCxnSpPr>
          <p:cNvPr id="12" name="Flecha"/>
          <p:cNvCxnSpPr/>
          <p:nvPr/>
        </p:nvCxnSpPr>
        <p:spPr>
          <a:xfrm>
            <a:off x="3400000" y="3400000"/>
            <a:ext cx="0" cy="400000"/>
          </a:xfrm>
          <a:prstGeom prst="line">
            <a:avLst/>
          </a:prstGeom>
          <a:ln w="19050">
            <a:solidFill>
              <a:srgbClr val="1F7A66"/>
            </a:solidFill>
            <a:prstDash val="solid"/>
            <a:tailEnd type="triangle" w="med" len="med"/>
          </a:ln>
        </p:spPr>
      </p:cxnSp>
      <p:sp>
        <p:nvSpPr>
          <p:cNvPr id="13" name="Rama"/>
          <p:cNvSpPr/>
          <p:nvPr/>
        </p:nvSpPr>
        <p:spPr>
          <a:xfrm>
            <a:off x="3500000" y="345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Proceso"/>
          <p:cNvSpPr/>
          <p:nvPr/>
        </p:nvSpPr>
        <p:spPr>
          <a:xfrm>
            <a:off x="1300000" y="3800000"/>
            <a:ext cx="4200000" cy="7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alturaIzq = altura(izquierdo)</a:t>
            </a:r>
            <a:endParaRPr lang="es-EC" sz="1300" dirty="0"/>
          </a:p>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alturaDer = altura(derecho)</a:t>
            </a:r>
            <a:endParaRPr lang="es-EC" sz="1300" dirty="0"/>
          </a:p>
        </p:txBody>
      </p:sp>
      <p:cxnSp>
        <p:nvCxnSpPr>
          <p:cNvPr id="15" name="Flecha"/>
          <p:cNvCxnSpPr/>
          <p:nvPr/>
        </p:nvCxnSpPr>
        <p:spPr>
          <a:xfrm>
            <a:off x="3400000" y="4500000"/>
            <a:ext cx="0" cy="350000"/>
          </a:xfrm>
          <a:prstGeom prst="line">
            <a:avLst/>
          </a:prstGeom>
          <a:ln w="19050">
            <a:solidFill>
              <a:srgbClr val="1F7A66"/>
            </a:solidFill>
            <a:prstDash val="solid"/>
            <a:tailEnd type="triangle" w="med" len="med"/>
          </a:ln>
        </p:spPr>
      </p:cxnSp>
      <p:sp>
        <p:nvSpPr>
          <p:cNvPr id="16" name="Terminal"/>
          <p:cNvSpPr/>
          <p:nvPr/>
        </p:nvSpPr>
        <p:spPr>
          <a:xfrm>
            <a:off x="1100000" y="4850000"/>
            <a:ext cx="4600000" cy="50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 + max(alturaIzq, alturaDer)</a:t>
            </a:r>
            <a:endParaRPr lang="es-EC" sz="1200" dirty="0"/>
          </a:p>
        </p:txBody>
      </p:sp>
      <p:sp>
        <p:nvSpPr>
          <p:cNvPr id="17" name="Tarjeta por que"/>
          <p:cNvSpPr/>
          <p:nvPr/>
        </p:nvSpPr>
        <p:spPr>
          <a:xfrm>
            <a:off x="6900000" y="1900000"/>
            <a:ext cx="4796192" cy="3000000"/>
          </a:xfrm>
          <a:prstGeom prst="roundRect">
            <a:avLst>
              <a:gd name="adj" fmla="val 4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8" name="Texto por que"/>
          <p:cNvSpPr/>
          <p:nvPr/>
        </p:nvSpPr>
        <p:spPr>
          <a:xfrm>
            <a:off x="7150000" y="2049999"/>
            <a:ext cx="4296192" cy="3200000"/>
          </a:xfrm>
          <a:prstGeom prst="rect">
            <a:avLst/>
          </a:prstGeom>
          <a:noFill/>
          <a:ln/>
        </p:spPr>
        <p:txBody>
          <a:bodyPr wrap="square" lIns="0" tIns="0" rIns="0" bIns="0" rtlCol="0" anchor="t">
            <a:normAutofit/>
          </a:bodyPr>
          <a:lstStyle/>
          <a:p>
            <a:pPr algn="l" indent="0" marL="0">
              <a:lnSpc>
                <a:spcPts val="2380"/>
              </a:lnSpc>
              <a:buNone/>
            </a:pPr>
            <a:r>
              <a:rPr lang="es-EC" sz="1700" b="1" dirty="0">
                <a:solidFill>
                  <a:srgbClr val="1F7A66"/>
                </a:solidFill>
                <a:latin typeface="DM Sans" pitchFamily="34" charset="0"/>
                <a:ea typeface="DM Sans" pitchFamily="34" charset="-122"/>
                <a:cs typeface="DM Sans" pitchFamily="34" charset="-120"/>
              </a:rPr>
              <a:t>¿Por qué -1 para null?</a:t>
            </a:r>
            <a:endParaRPr lang="es-EC" sz="1700" dirty="0"/>
          </a:p>
          <a:p>
            <a:pPr algn="l" indent="0" marL="0">
              <a:lnSpc>
                <a:spcPts val="2100"/>
              </a:lnSpc>
              <a:spcBef>
                <a:spcPts val="900"/>
              </a:spcBef>
              <a:buNone/>
            </a:pPr>
            <a:r>
              <a:rPr lang="es-EC" sz="1500" dirty="0">
                <a:solidFill>
                  <a:srgbClr val="12261F"/>
                </a:solidFill>
                <a:latin typeface="DM Sans" pitchFamily="34" charset="0"/>
                <a:ea typeface="DM Sans" pitchFamily="34" charset="-122"/>
                <a:cs typeface="DM Sans" pitchFamily="34" charset="-120"/>
              </a:rPr>
              <a:t>Un árbol vacío mide -1.</a:t>
            </a:r>
            <a:endParaRPr lang="es-EC" sz="1500" dirty="0"/>
          </a:p>
          <a:p>
            <a:pPr algn="l" indent="0" marL="0">
              <a:lnSpc>
                <a:spcPts val="2100"/>
              </a:lnSpc>
              <a:spcBef>
                <a:spcPts val="400"/>
              </a:spcBef>
              <a:buNone/>
            </a:pPr>
            <a:r>
              <a:rPr lang="es-EC" sz="1500" dirty="0">
                <a:solidFill>
                  <a:srgbClr val="12261F"/>
                </a:solidFill>
                <a:latin typeface="DM Sans" pitchFamily="34" charset="0"/>
                <a:ea typeface="DM Sans" pitchFamily="34" charset="-122"/>
                <a:cs typeface="DM Sans" pitchFamily="34" charset="-120"/>
              </a:rPr>
              <a:t>Así una hoja mide 1 + max(-1, -1) = 0.</a:t>
            </a:r>
            <a:endParaRPr lang="es-EC" sz="1500" dirty="0"/>
          </a:p>
          <a:p>
            <a:pPr algn="l" indent="0" marL="0">
              <a:lnSpc>
                <a:spcPts val="2100"/>
              </a:lnSpc>
              <a:spcBef>
                <a:spcPts val="400"/>
              </a:spcBef>
              <a:buNone/>
            </a:pPr>
            <a:r>
              <a:rPr lang="es-EC" sz="1500" dirty="0">
                <a:solidFill>
                  <a:srgbClr val="12261F"/>
                </a:solidFill>
                <a:latin typeface="DM Sans" pitchFamily="34" charset="0"/>
                <a:ea typeface="DM Sans" pitchFamily="34" charset="-122"/>
                <a:cs typeface="DM Sans" pitchFamily="34" charset="-120"/>
              </a:rPr>
              <a:t>La altura cuenta aristas, no nodos.</a:t>
            </a:r>
            <a:endParaRPr lang="es-EC" sz="1500" dirty="0"/>
          </a:p>
          <a:p>
            <a:pPr algn="l" indent="0" marL="0">
              <a:lnSpc>
                <a:spcPts val="1820"/>
              </a:lnSpc>
              <a:spcBef>
                <a:spcPts val="1200"/>
              </a:spcBef>
              <a:buNone/>
            </a:pPr>
            <a:r>
              <a:rPr lang="es-EC" sz="1300" b="1" spc="100" dirty="0">
                <a:solidFill>
                  <a:srgbClr val="1F7A66"/>
                </a:solidFill>
                <a:latin typeface="DM Sans" pitchFamily="34" charset="0"/>
                <a:ea typeface="DM Sans" pitchFamily="34" charset="-122"/>
                <a:cs typeface="DM Sans" pitchFamily="34" charset="-120"/>
              </a:rPr>
              <a:t>Ejemplo</a:t>
            </a:r>
            <a:endParaRPr lang="es-EC" sz="1300" dirty="0"/>
          </a:p>
          <a:p>
            <a:pPr algn="l" indent="0" marL="0">
              <a:lnSpc>
                <a:spcPts val="1960"/>
              </a:lnSpc>
              <a:spcBef>
                <a:spcPts val="300"/>
              </a:spcBef>
              <a:buNone/>
            </a:pPr>
            <a:r>
              <a:rPr lang="es-EC" sz="1400" dirty="0">
                <a:solidFill>
                  <a:srgbClr val="4A5A54"/>
                </a:solidFill>
                <a:latin typeface="DM Sans" pitchFamily="34" charset="0"/>
                <a:ea typeface="DM Sans" pitchFamily="34" charset="-122"/>
                <a:cs typeface="DM Sans" pitchFamily="34" charset="-120"/>
              </a:rPr>
              <a:t>altura(CUE) = 0</a:t>
            </a:r>
            <a:endParaRPr lang="es-EC" sz="1400" dirty="0"/>
          </a:p>
          <a:p>
            <a:pPr algn="l" indent="0" marL="0">
              <a:lnSpc>
                <a:spcPts val="1960"/>
              </a:lnSpc>
              <a:spcBef>
                <a:spcPts val="100"/>
              </a:spcBef>
              <a:buNone/>
            </a:pPr>
            <a:r>
              <a:rPr lang="es-EC" sz="1400" dirty="0">
                <a:solidFill>
                  <a:srgbClr val="4A5A54"/>
                </a:solidFill>
                <a:latin typeface="DM Sans" pitchFamily="34" charset="0"/>
                <a:ea typeface="DM Sans" pitchFamily="34" charset="-122"/>
                <a:cs typeface="DM Sans" pitchFamily="34" charset="-120"/>
              </a:rPr>
              <a:t>altura(GYE) = 1 + max(0, 0) = 1</a:t>
            </a:r>
            <a:endParaRPr lang="es-EC" sz="1400" dirty="0"/>
          </a:p>
          <a:p>
            <a:pPr algn="l" indent="0" marL="0">
              <a:lnSpc>
                <a:spcPts val="1960"/>
              </a:lnSpc>
              <a:spcBef>
                <a:spcPts val="100"/>
              </a:spcBef>
              <a:buNone/>
            </a:pPr>
            <a:r>
              <a:rPr lang="es-EC" sz="1400" dirty="0">
                <a:solidFill>
                  <a:srgbClr val="4A5A54"/>
                </a:solidFill>
                <a:latin typeface="DM Sans" pitchFamily="34" charset="0"/>
                <a:ea typeface="DM Sans" pitchFamily="34" charset="-122"/>
                <a:cs typeface="DM Sans" pitchFamily="34" charset="-120"/>
              </a:rPr>
              <a:t>altura(UIO) = 1 + max(1, 0) = 2</a:t>
            </a:r>
            <a:endParaRPr lang="es-EC" sz="1400" dirty="0"/>
          </a:p>
        </p:txBody>
      </p:sp>
      <p:sp>
        <p:nvSpPr>
          <p:cNvPr id="19"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20"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12 / 17</a:t>
            </a:r>
            <a:endParaRPr lang="es-EC"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ain">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EN JAVA</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El Main usa las operaciones</a:t>
            </a:r>
            <a:endParaRPr lang="es-EC" sz="3200" dirty="0"/>
          </a:p>
        </p:txBody>
      </p:sp>
      <p:sp>
        <p:nvSpPr>
          <p:cNvPr id="4" name="Consola"/>
          <p:cNvSpPr/>
          <p:nvPr/>
        </p:nvSpPr>
        <p:spPr>
          <a:xfrm>
            <a:off x="812800" y="1850000"/>
            <a:ext cx="6000000" cy="4099999"/>
          </a:xfrm>
          <a:prstGeom prst="roundRect">
            <a:avLst>
              <a:gd name="adj" fmla="val 3500"/>
            </a:avLst>
          </a:prstGeom>
          <a:solidFill>
            <a:srgbClr val="12261F"/>
          </a:solidFill>
          <a:ln/>
        </p:spPr>
        <p:txBody>
          <a:bodyPr wrap="square" lIns="260000" tIns="200000" rIns="100000" bIns="150000" rtlCol="0" anchor="t">
            <a:normAutofit/>
          </a:bodyPr>
          <a:lstStyle/>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UIO</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I: GYE</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I: CUE</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D: LOH</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D: MEC</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D: ESM</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contarNodos()  -&gt; 6</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contarHojas()  -&gt; 3</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altura()       -&gt; 2</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gye.esHoja()  -&gt; false</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gye.grado()   -&gt; 2</a:t>
            </a:r>
            <a:endParaRPr lang="es-EC" sz="1400" dirty="0"/>
          </a:p>
        </p:txBody>
      </p:sp>
      <p:sp>
        <p:nvSpPr>
          <p:cNvPr id="5" name="Tarjeta"/>
          <p:cNvSpPr/>
          <p:nvPr/>
        </p:nvSpPr>
        <p:spPr>
          <a:xfrm>
            <a:off x="7200000" y="18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6" name="Numero"/>
          <p:cNvSpPr/>
          <p:nvPr/>
        </p:nvSpPr>
        <p:spPr>
          <a:xfrm>
            <a:off x="7380000" y="18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1</a:t>
            </a:r>
            <a:endParaRPr lang="es-EC" sz="3200" dirty="0"/>
          </a:p>
        </p:txBody>
      </p:sp>
      <p:sp>
        <p:nvSpPr>
          <p:cNvPr id="7" name="Texto"/>
          <p:cNvSpPr/>
          <p:nvPr/>
        </p:nvSpPr>
        <p:spPr>
          <a:xfrm>
            <a:off x="8050000" y="18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crearRaiz y agregar</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construyen el árbol nodo por nodo.</a:t>
            </a:r>
            <a:endParaRPr lang="es-EC" sz="1400" dirty="0"/>
          </a:p>
        </p:txBody>
      </p:sp>
      <p:sp>
        <p:nvSpPr>
          <p:cNvPr id="8" name="Tarjeta"/>
          <p:cNvSpPr/>
          <p:nvPr/>
        </p:nvSpPr>
        <p:spPr>
          <a:xfrm>
            <a:off x="7200000" y="32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Numero"/>
          <p:cNvSpPr/>
          <p:nvPr/>
        </p:nvSpPr>
        <p:spPr>
          <a:xfrm>
            <a:off x="7380000" y="32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2</a:t>
            </a:r>
            <a:endParaRPr lang="es-EC" sz="3200" dirty="0"/>
          </a:p>
        </p:txBody>
      </p:sp>
      <p:sp>
        <p:nvSpPr>
          <p:cNvPr id="10" name="Texto"/>
          <p:cNvSpPr/>
          <p:nvPr/>
        </p:nvSpPr>
        <p:spPr>
          <a:xfrm>
            <a:off x="8050000" y="32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VistaArbol</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lo dibuja en consola después de cada paso.</a:t>
            </a:r>
            <a:endParaRPr lang="es-EC" sz="1400" dirty="0"/>
          </a:p>
        </p:txBody>
      </p:sp>
      <p:sp>
        <p:nvSpPr>
          <p:cNvPr id="11" name="Tarjeta"/>
          <p:cNvSpPr/>
          <p:nvPr/>
        </p:nvSpPr>
        <p:spPr>
          <a:xfrm>
            <a:off x="7200000" y="46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2" name="Numero"/>
          <p:cNvSpPr/>
          <p:nvPr/>
        </p:nvSpPr>
        <p:spPr>
          <a:xfrm>
            <a:off x="7380000" y="46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3</a:t>
            </a:r>
            <a:endParaRPr lang="es-EC" sz="3200" dirty="0"/>
          </a:p>
        </p:txBody>
      </p:sp>
      <p:sp>
        <p:nvSpPr>
          <p:cNvPr id="13" name="Texto"/>
          <p:cNvSpPr/>
          <p:nvPr/>
        </p:nvSpPr>
        <p:spPr>
          <a:xfrm>
            <a:off x="8050000" y="46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contarNodos, contarHojas y altura</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lo describen con números.</a:t>
            </a:r>
            <a:endParaRPr lang="es-EC" sz="1400" dirty="0"/>
          </a:p>
        </p:txBody>
      </p:sp>
      <p:sp>
        <p:nvSpPr>
          <p:cNvPr id="14"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15"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13 / 17</a:t>
            </a:r>
            <a:endParaRPr lang="es-EC"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Re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RETO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Reto: ¿árbol sano o árbol en cadena?</a:t>
            </a:r>
            <a:endParaRPr lang="es-EC" sz="3200" dirty="0"/>
          </a:p>
        </p:txBody>
      </p:sp>
      <p:sp>
        <p:nvSpPr>
          <p:cNvPr id="4" name="Tarjeta"/>
          <p:cNvSpPr/>
          <p:nvPr/>
        </p:nvSpPr>
        <p:spPr>
          <a:xfrm>
            <a:off x="812800"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Numero"/>
          <p:cNvSpPr/>
          <p:nvPr/>
        </p:nvSpPr>
        <p:spPr>
          <a:xfrm>
            <a:off x="1042800"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1</a:t>
            </a:r>
            <a:endParaRPr lang="es-EC" sz="4400" dirty="0"/>
          </a:p>
        </p:txBody>
      </p:sp>
      <p:sp>
        <p:nvSpPr>
          <p:cNvPr id="6" name="Titulo"/>
          <p:cNvSpPr/>
          <p:nvPr/>
        </p:nvSpPr>
        <p:spPr>
          <a:xfrm>
            <a:off x="1812800"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Construir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10 min</a:t>
            </a:r>
            <a:endParaRPr lang="es-EC" sz="1300" dirty="0"/>
          </a:p>
        </p:txBody>
      </p:sp>
      <p:sp>
        <p:nvSpPr>
          <p:cNvPr id="7" name="Descripcion"/>
          <p:cNvSpPr/>
          <p:nvPr/>
        </p:nvSpPr>
        <p:spPr>
          <a:xfrm>
            <a:off x="1042800"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Armen el árbol A con crearRaiz, agregarIzquierdo y agregarDerecho.</a:t>
            </a:r>
            <a:endParaRPr lang="es-EC" sz="1400" dirty="0"/>
          </a:p>
        </p:txBody>
      </p:sp>
      <p:sp>
        <p:nvSpPr>
          <p:cNvPr id="8" name="Tarjeta"/>
          <p:cNvSpPr/>
          <p:nvPr/>
        </p:nvSpPr>
        <p:spPr>
          <a:xfrm>
            <a:off x="4540597"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Numero"/>
          <p:cNvSpPr/>
          <p:nvPr/>
        </p:nvSpPr>
        <p:spPr>
          <a:xfrm>
            <a:off x="4770597"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2</a:t>
            </a:r>
            <a:endParaRPr lang="es-EC" sz="4400" dirty="0"/>
          </a:p>
        </p:txBody>
      </p:sp>
      <p:sp>
        <p:nvSpPr>
          <p:cNvPr id="10" name="Titulo"/>
          <p:cNvSpPr/>
          <p:nvPr/>
        </p:nvSpPr>
        <p:spPr>
          <a:xfrm>
            <a:off x="5540597"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Consultar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8 min</a:t>
            </a:r>
            <a:endParaRPr lang="es-EC" sz="1300" dirty="0"/>
          </a:p>
        </p:txBody>
      </p:sp>
      <p:sp>
        <p:nvSpPr>
          <p:cNvPr id="11" name="Descripcion"/>
          <p:cNvSpPr/>
          <p:nvPr/>
        </p:nvSpPr>
        <p:spPr>
          <a:xfrm>
            <a:off x="4770597"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Impriman la raíz, los nodos, las hojas, la altura y el grado de LTX y SNC.</a:t>
            </a:r>
            <a:endParaRPr lang="es-EC" sz="1400" dirty="0"/>
          </a:p>
        </p:txBody>
      </p:sp>
      <p:sp>
        <p:nvSpPr>
          <p:cNvPr id="12" name="Tarjeta"/>
          <p:cNvSpPr/>
          <p:nvPr/>
        </p:nvSpPr>
        <p:spPr>
          <a:xfrm>
            <a:off x="8268394"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3" name="Numero"/>
          <p:cNvSpPr/>
          <p:nvPr/>
        </p:nvSpPr>
        <p:spPr>
          <a:xfrm>
            <a:off x="8498394"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3</a:t>
            </a:r>
            <a:endParaRPr lang="es-EC" sz="4400" dirty="0"/>
          </a:p>
        </p:txBody>
      </p:sp>
      <p:sp>
        <p:nvSpPr>
          <p:cNvPr id="14" name="Titulo"/>
          <p:cNvSpPr/>
          <p:nvPr/>
        </p:nvSpPr>
        <p:spPr>
          <a:xfrm>
            <a:off x="9268394"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Decidir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12 min</a:t>
            </a:r>
            <a:endParaRPr lang="es-EC" sz="1300" dirty="0"/>
          </a:p>
        </p:txBody>
      </p:sp>
      <p:sp>
        <p:nvSpPr>
          <p:cNvPr id="15" name="Descripcion"/>
          <p:cNvSpPr/>
          <p:nvPr/>
        </p:nvSpPr>
        <p:spPr>
          <a:xfrm>
            <a:off x="8498394"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Armen el árbol B y escriban esCadena(arbol): altura igual a nodos menos 1.</a:t>
            </a:r>
            <a:endParaRPr lang="es-EC" sz="1400" dirty="0"/>
          </a:p>
        </p:txBody>
      </p:sp>
      <p:sp>
        <p:nvSpPr>
          <p:cNvPr id="16" name="Reglas"/>
          <p:cNvSpPr/>
          <p:nvPr/>
        </p:nvSpPr>
        <p:spPr>
          <a:xfrm>
            <a:off x="812800" y="4450000"/>
            <a:ext cx="10883392" cy="1500000"/>
          </a:xfrm>
          <a:prstGeom prst="roundRect">
            <a:avLst>
              <a:gd name="adj" fmla="val 5000"/>
            </a:avLst>
          </a:prstGeom>
          <a:solidFill>
            <a:srgbClr val="12261F"/>
          </a:solidFill>
          <a:ln/>
        </p:spPr>
        <p:txBody>
          <a:bodyPr wrap="square" lIns="300000" tIns="170000" rIns="200000" bIns="100000" rtlCol="0" anchor="t">
            <a:normAutofit/>
          </a:bodyPr>
          <a:lstStyle/>
          <a:p>
            <a:pPr algn="l" indent="0" marL="0">
              <a:lnSpc>
                <a:spcPts val="1820"/>
              </a:lnSpc>
              <a:buNone/>
            </a:pPr>
            <a:r>
              <a:rPr lang="es-EC" sz="1300" b="1" spc="100" dirty="0">
                <a:solidFill>
                  <a:srgbClr val="E3A33B"/>
                </a:solidFill>
                <a:latin typeface="DM Sans" pitchFamily="34" charset="0"/>
                <a:ea typeface="DM Sans" pitchFamily="34" charset="-122"/>
                <a:cs typeface="DM Sans" pitchFamily="34" charset="-120"/>
              </a:rPr>
              <a:t>REGLAS</a:t>
            </a:r>
            <a:endParaRPr lang="es-EC" sz="1300" dirty="0"/>
          </a:p>
          <a:p>
            <a:pPr algn="l" indent="0" marL="0">
              <a:lnSpc>
                <a:spcPts val="2100"/>
              </a:lnSpc>
              <a:spcBef>
                <a:spcPts val="500"/>
              </a:spcBef>
              <a:buNone/>
            </a:pPr>
            <a:r>
              <a:rPr lang="es-EC" sz="1500" dirty="0">
                <a:solidFill>
                  <a:srgbClr val="F6F4EC"/>
                </a:solidFill>
                <a:latin typeface="DM Sans" pitchFamily="34" charset="0"/>
                <a:ea typeface="DM Sans" pitchFamily="34" charset="-122"/>
                <a:cs typeface="DM Sans" pitchFamily="34" charset="-120"/>
              </a:rPr>
              <a:t>Solo se usan Nodo y ArbolBinario.</a:t>
            </a:r>
            <a:endParaRPr lang="es-EC" sz="1500" dirty="0"/>
          </a:p>
          <a:p>
            <a:pPr algn="l" indent="0" marL="0">
              <a:lnSpc>
                <a:spcPts val="2100"/>
              </a:lnSpc>
              <a:spcBef>
                <a:spcPts val="200"/>
              </a:spcBef>
              <a:buNone/>
            </a:pPr>
            <a:r>
              <a:rPr lang="es-EC" sz="1500" dirty="0">
                <a:solidFill>
                  <a:srgbClr val="F6F4EC"/>
                </a:solidFill>
                <a:latin typeface="DM Sans" pitchFamily="34" charset="0"/>
                <a:ea typeface="DM Sans" pitchFamily="34" charset="-122"/>
                <a:cs typeface="DM Sans" pitchFamily="34" charset="-120"/>
              </a:rPr>
              <a:t>Prohibido: TreeSet, TreeMap, PriorityQueue, NavigableSet y NavigableMap.</a:t>
            </a:r>
            <a:endParaRPr lang="es-EC" sz="1500" dirty="0"/>
          </a:p>
          <a:p>
            <a:pPr algn="l" indent="0" marL="0">
              <a:lnSpc>
                <a:spcPts val="2100"/>
              </a:lnSpc>
              <a:spcBef>
                <a:spcPts val="200"/>
              </a:spcBef>
              <a:buNone/>
            </a:pPr>
            <a:r>
              <a:rPr lang="es-EC" sz="1500" dirty="0">
                <a:solidFill>
                  <a:srgbClr val="F6F4EC"/>
                </a:solidFill>
                <a:latin typeface="DM Sans" pitchFamily="34" charset="0"/>
                <a:ea typeface="DM Sans" pitchFamily="34" charset="-122"/>
                <a:cs typeface="DM Sans" pitchFamily="34" charset="-120"/>
              </a:rPr>
              <a:t>Casos límite: árbol vacío, un solo nodo y agregar donde ya hay un hijo.</a:t>
            </a:r>
            <a:endParaRPr lang="es-EC" sz="1500" dirty="0"/>
          </a:p>
        </p:txBody>
      </p:sp>
      <p:sp>
        <p:nvSpPr>
          <p:cNvPr id="17"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18"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14 / 17</a:t>
            </a:r>
            <a:endParaRPr lang="es-EC"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rboles del re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RETO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Los árboles del reto</a:t>
            </a:r>
            <a:endParaRPr lang="es-EC" sz="3200" dirty="0"/>
          </a:p>
        </p:txBody>
      </p:sp>
      <p:sp>
        <p:nvSpPr>
          <p:cNvPr id="4" name="Tarjeta Árbol A: 8 nodos"/>
          <p:cNvSpPr/>
          <p:nvPr/>
        </p:nvSpPr>
        <p:spPr>
          <a:xfrm>
            <a:off x="812800" y="1800000"/>
            <a:ext cx="6300000" cy="4200000"/>
          </a:xfrm>
          <a:prstGeom prst="roundRect">
            <a:avLst>
              <a:gd name="adj" fmla="val 35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Cabecera Árbol A: 8 nodos"/>
          <p:cNvSpPr/>
          <p:nvPr/>
        </p:nvSpPr>
        <p:spPr>
          <a:xfrm>
            <a:off x="812800" y="1900000"/>
            <a:ext cx="6300000" cy="300000"/>
          </a:xfrm>
          <a:prstGeom prst="rect">
            <a:avLst/>
          </a:prstGeom>
          <a:noFill/>
          <a:ln/>
        </p:spPr>
        <p:txBody>
          <a:bodyPr wrap="square" lIns="0" tIns="0" rIns="0" bIns="0" rtlCol="0" anchor="t">
            <a:normAutofit/>
          </a:bodyPr>
          <a:lstStyle/>
          <a:p>
            <a:pPr algn="ctr" indent="0" marL="0">
              <a:lnSpc>
                <a:spcPts val="1800"/>
              </a:lnSpc>
              <a:buNone/>
            </a:pPr>
            <a:r>
              <a:rPr lang="es-EC" sz="1500" b="1" dirty="0">
                <a:solidFill>
                  <a:srgbClr val="1F7A66"/>
                </a:solidFill>
                <a:latin typeface="DM Sans" pitchFamily="34" charset="0"/>
                <a:ea typeface="DM Sans" pitchFamily="34" charset="-122"/>
                <a:cs typeface="DM Sans" pitchFamily="34" charset="-120"/>
              </a:rPr>
              <a:t>Árbol A: 8 nodos</a:t>
            </a:r>
            <a:endParaRPr lang="es-EC" sz="1500" dirty="0"/>
          </a:p>
        </p:txBody>
      </p:sp>
      <p:cxnSp>
        <p:nvCxnSpPr>
          <p:cNvPr id="6" name="Arco"/>
          <p:cNvCxnSpPr/>
          <p:nvPr/>
        </p:nvCxnSpPr>
        <p:spPr>
          <a:xfrm flipH="1">
            <a:off x="2562800" y="2750000"/>
            <a:ext cx="1400000" cy="900000"/>
          </a:xfrm>
          <a:prstGeom prst="line">
            <a:avLst/>
          </a:prstGeom>
          <a:ln w="19050">
            <a:solidFill>
              <a:srgbClr val="1F7A66"/>
            </a:solidFill>
            <a:prstDash val="solid"/>
          </a:ln>
        </p:spPr>
      </p:cxnSp>
      <p:cxnSp>
        <p:nvCxnSpPr>
          <p:cNvPr id="7" name="Arco"/>
          <p:cNvCxnSpPr/>
          <p:nvPr/>
        </p:nvCxnSpPr>
        <p:spPr>
          <a:xfrm>
            <a:off x="3962800" y="2750000"/>
            <a:ext cx="1400000" cy="900000"/>
          </a:xfrm>
          <a:prstGeom prst="line">
            <a:avLst/>
          </a:prstGeom>
          <a:ln w="19050">
            <a:solidFill>
              <a:srgbClr val="1F7A66"/>
            </a:solidFill>
            <a:prstDash val="solid"/>
          </a:ln>
        </p:spPr>
      </p:cxnSp>
      <p:cxnSp>
        <p:nvCxnSpPr>
          <p:cNvPr id="8" name="Arco"/>
          <p:cNvCxnSpPr/>
          <p:nvPr/>
        </p:nvCxnSpPr>
        <p:spPr>
          <a:xfrm flipH="1">
            <a:off x="1812800" y="3650000"/>
            <a:ext cx="750000" cy="900000"/>
          </a:xfrm>
          <a:prstGeom prst="line">
            <a:avLst/>
          </a:prstGeom>
          <a:ln w="19050">
            <a:solidFill>
              <a:srgbClr val="1F7A66"/>
            </a:solidFill>
            <a:prstDash val="solid"/>
          </a:ln>
        </p:spPr>
      </p:cxnSp>
      <p:cxnSp>
        <p:nvCxnSpPr>
          <p:cNvPr id="9" name="Arco"/>
          <p:cNvCxnSpPr/>
          <p:nvPr/>
        </p:nvCxnSpPr>
        <p:spPr>
          <a:xfrm>
            <a:off x="2562800" y="3650000"/>
            <a:ext cx="750000" cy="900000"/>
          </a:xfrm>
          <a:prstGeom prst="line">
            <a:avLst/>
          </a:prstGeom>
          <a:ln w="19050">
            <a:solidFill>
              <a:srgbClr val="1F7A66"/>
            </a:solidFill>
            <a:prstDash val="solid"/>
          </a:ln>
        </p:spPr>
      </p:cxnSp>
      <p:cxnSp>
        <p:nvCxnSpPr>
          <p:cNvPr id="10" name="Arco"/>
          <p:cNvCxnSpPr/>
          <p:nvPr/>
        </p:nvCxnSpPr>
        <p:spPr>
          <a:xfrm flipH="1">
            <a:off x="4662800" y="3650000"/>
            <a:ext cx="700000" cy="900000"/>
          </a:xfrm>
          <a:prstGeom prst="line">
            <a:avLst/>
          </a:prstGeom>
          <a:ln w="19050">
            <a:solidFill>
              <a:srgbClr val="1F7A66"/>
            </a:solidFill>
            <a:prstDash val="solid"/>
          </a:ln>
        </p:spPr>
      </p:cxnSp>
      <p:cxnSp>
        <p:nvCxnSpPr>
          <p:cNvPr id="11" name="Arco"/>
          <p:cNvCxnSpPr/>
          <p:nvPr/>
        </p:nvCxnSpPr>
        <p:spPr>
          <a:xfrm>
            <a:off x="5362800" y="3650000"/>
            <a:ext cx="700000" cy="900000"/>
          </a:xfrm>
          <a:prstGeom prst="line">
            <a:avLst/>
          </a:prstGeom>
          <a:ln w="19050">
            <a:solidFill>
              <a:srgbClr val="1F7A66"/>
            </a:solidFill>
            <a:prstDash val="solid"/>
          </a:ln>
        </p:spPr>
      </p:cxnSp>
      <p:cxnSp>
        <p:nvCxnSpPr>
          <p:cNvPr id="12" name="Arco"/>
          <p:cNvCxnSpPr/>
          <p:nvPr/>
        </p:nvCxnSpPr>
        <p:spPr>
          <a:xfrm flipH="1">
            <a:off x="3962800" y="4550000"/>
            <a:ext cx="700000" cy="900000"/>
          </a:xfrm>
          <a:prstGeom prst="line">
            <a:avLst/>
          </a:prstGeom>
          <a:ln w="19050">
            <a:solidFill>
              <a:srgbClr val="1F7A66"/>
            </a:solidFill>
            <a:prstDash val="solid"/>
          </a:ln>
        </p:spPr>
      </p:cxnSp>
      <p:sp>
        <p:nvSpPr>
          <p:cNvPr id="13" name="Nodo LTX"/>
          <p:cNvSpPr/>
          <p:nvPr/>
        </p:nvSpPr>
        <p:spPr>
          <a:xfrm>
            <a:off x="3672800" y="2460000"/>
            <a:ext cx="580000" cy="58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FFFDF7"/>
                </a:solidFill>
                <a:latin typeface="DM Sans" pitchFamily="34" charset="0"/>
                <a:ea typeface="DM Sans" pitchFamily="34" charset="-122"/>
                <a:cs typeface="DM Sans" pitchFamily="34" charset="-120"/>
              </a:rPr>
              <a:t>LTX</a:t>
            </a:r>
            <a:endParaRPr lang="es-EC" sz="1200" dirty="0"/>
          </a:p>
        </p:txBody>
      </p:sp>
      <p:sp>
        <p:nvSpPr>
          <p:cNvPr id="14" name="Nodo ATF"/>
          <p:cNvSpPr/>
          <p:nvPr/>
        </p:nvSpPr>
        <p:spPr>
          <a:xfrm>
            <a:off x="2272800" y="33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ATF</a:t>
            </a:r>
            <a:endParaRPr lang="es-EC" sz="1200" dirty="0"/>
          </a:p>
        </p:txBody>
      </p:sp>
      <p:sp>
        <p:nvSpPr>
          <p:cNvPr id="15" name="Nodo MCH"/>
          <p:cNvSpPr/>
          <p:nvPr/>
        </p:nvSpPr>
        <p:spPr>
          <a:xfrm>
            <a:off x="5072800" y="33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MCH</a:t>
            </a:r>
            <a:endParaRPr lang="es-EC" sz="1200" dirty="0"/>
          </a:p>
        </p:txBody>
      </p:sp>
      <p:sp>
        <p:nvSpPr>
          <p:cNvPr id="16" name="Nodo TUA"/>
          <p:cNvSpPr/>
          <p:nvPr/>
        </p:nvSpPr>
        <p:spPr>
          <a:xfrm>
            <a:off x="152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TUA</a:t>
            </a:r>
            <a:endParaRPr lang="es-EC" sz="1200" dirty="0"/>
          </a:p>
        </p:txBody>
      </p:sp>
      <p:sp>
        <p:nvSpPr>
          <p:cNvPr id="17" name="Nodo IBB"/>
          <p:cNvSpPr/>
          <p:nvPr/>
        </p:nvSpPr>
        <p:spPr>
          <a:xfrm>
            <a:off x="302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IBB</a:t>
            </a:r>
            <a:endParaRPr lang="es-EC" sz="1200" dirty="0"/>
          </a:p>
        </p:txBody>
      </p:sp>
      <p:sp>
        <p:nvSpPr>
          <p:cNvPr id="18" name="Nodo SNC"/>
          <p:cNvSpPr/>
          <p:nvPr/>
        </p:nvSpPr>
        <p:spPr>
          <a:xfrm>
            <a:off x="437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SNC</a:t>
            </a:r>
            <a:endParaRPr lang="es-EC" sz="1200" dirty="0"/>
          </a:p>
        </p:txBody>
      </p:sp>
      <p:sp>
        <p:nvSpPr>
          <p:cNvPr id="19" name="Nodo OCC"/>
          <p:cNvSpPr/>
          <p:nvPr/>
        </p:nvSpPr>
        <p:spPr>
          <a:xfrm>
            <a:off x="577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OCC</a:t>
            </a:r>
            <a:endParaRPr lang="es-EC" sz="1200" dirty="0"/>
          </a:p>
        </p:txBody>
      </p:sp>
      <p:sp>
        <p:nvSpPr>
          <p:cNvPr id="20" name="Nodo LGQ"/>
          <p:cNvSpPr/>
          <p:nvPr/>
        </p:nvSpPr>
        <p:spPr>
          <a:xfrm>
            <a:off x="3672800" y="51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LGQ</a:t>
            </a:r>
            <a:endParaRPr lang="es-EC" sz="1200" dirty="0"/>
          </a:p>
        </p:txBody>
      </p:sp>
      <p:sp>
        <p:nvSpPr>
          <p:cNvPr id="21" name="Tarjeta Árbol B: 5 nodos"/>
          <p:cNvSpPr/>
          <p:nvPr/>
        </p:nvSpPr>
        <p:spPr>
          <a:xfrm>
            <a:off x="7412800" y="1800000"/>
            <a:ext cx="4283392" cy="4200000"/>
          </a:xfrm>
          <a:prstGeom prst="roundRect">
            <a:avLst>
              <a:gd name="adj" fmla="val 35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2" name="Cabecera Árbol B: 5 nodos"/>
          <p:cNvSpPr/>
          <p:nvPr/>
        </p:nvSpPr>
        <p:spPr>
          <a:xfrm>
            <a:off x="7412800" y="1900000"/>
            <a:ext cx="4283392" cy="300000"/>
          </a:xfrm>
          <a:prstGeom prst="rect">
            <a:avLst/>
          </a:prstGeom>
          <a:noFill/>
          <a:ln/>
        </p:spPr>
        <p:txBody>
          <a:bodyPr wrap="square" lIns="0" tIns="0" rIns="0" bIns="0" rtlCol="0" anchor="t">
            <a:normAutofit/>
          </a:bodyPr>
          <a:lstStyle/>
          <a:p>
            <a:pPr algn="ctr" indent="0" marL="0">
              <a:lnSpc>
                <a:spcPts val="1800"/>
              </a:lnSpc>
              <a:buNone/>
            </a:pPr>
            <a:r>
              <a:rPr lang="es-EC" sz="1500" b="1" dirty="0">
                <a:solidFill>
                  <a:srgbClr val="1F7A66"/>
                </a:solidFill>
                <a:latin typeface="DM Sans" pitchFamily="34" charset="0"/>
                <a:ea typeface="DM Sans" pitchFamily="34" charset="-122"/>
                <a:cs typeface="DM Sans" pitchFamily="34" charset="-120"/>
              </a:rPr>
              <a:t>Árbol B: 5 nodos</a:t>
            </a:r>
            <a:endParaRPr lang="es-EC" sz="1500" dirty="0"/>
          </a:p>
        </p:txBody>
      </p:sp>
      <p:cxnSp>
        <p:nvCxnSpPr>
          <p:cNvPr id="23" name="Arco"/>
          <p:cNvCxnSpPr/>
          <p:nvPr/>
        </p:nvCxnSpPr>
        <p:spPr>
          <a:xfrm>
            <a:off x="8612800" y="2650000"/>
            <a:ext cx="550000" cy="700000"/>
          </a:xfrm>
          <a:prstGeom prst="line">
            <a:avLst/>
          </a:prstGeom>
          <a:ln w="19050">
            <a:solidFill>
              <a:srgbClr val="1F7A66"/>
            </a:solidFill>
            <a:prstDash val="solid"/>
          </a:ln>
        </p:spPr>
      </p:cxnSp>
      <p:cxnSp>
        <p:nvCxnSpPr>
          <p:cNvPr id="24" name="Arco"/>
          <p:cNvCxnSpPr/>
          <p:nvPr/>
        </p:nvCxnSpPr>
        <p:spPr>
          <a:xfrm>
            <a:off x="9162800" y="3350000"/>
            <a:ext cx="550000" cy="700000"/>
          </a:xfrm>
          <a:prstGeom prst="line">
            <a:avLst/>
          </a:prstGeom>
          <a:ln w="19050">
            <a:solidFill>
              <a:srgbClr val="1F7A66"/>
            </a:solidFill>
            <a:prstDash val="solid"/>
          </a:ln>
        </p:spPr>
      </p:cxnSp>
      <p:cxnSp>
        <p:nvCxnSpPr>
          <p:cNvPr id="25" name="Arco"/>
          <p:cNvCxnSpPr/>
          <p:nvPr/>
        </p:nvCxnSpPr>
        <p:spPr>
          <a:xfrm>
            <a:off x="9712800" y="4050000"/>
            <a:ext cx="550000" cy="700000"/>
          </a:xfrm>
          <a:prstGeom prst="line">
            <a:avLst/>
          </a:prstGeom>
          <a:ln w="19050">
            <a:solidFill>
              <a:srgbClr val="1F7A66"/>
            </a:solidFill>
            <a:prstDash val="solid"/>
          </a:ln>
        </p:spPr>
      </p:cxnSp>
      <p:cxnSp>
        <p:nvCxnSpPr>
          <p:cNvPr id="26" name="Arco"/>
          <p:cNvCxnSpPr/>
          <p:nvPr/>
        </p:nvCxnSpPr>
        <p:spPr>
          <a:xfrm>
            <a:off x="10262800" y="4750000"/>
            <a:ext cx="550000" cy="700000"/>
          </a:xfrm>
          <a:prstGeom prst="line">
            <a:avLst/>
          </a:prstGeom>
          <a:ln w="19050">
            <a:solidFill>
              <a:srgbClr val="1F7A66"/>
            </a:solidFill>
            <a:prstDash val="solid"/>
          </a:ln>
        </p:spPr>
      </p:cxnSp>
      <p:sp>
        <p:nvSpPr>
          <p:cNvPr id="27" name="Nodo GPS"/>
          <p:cNvSpPr/>
          <p:nvPr/>
        </p:nvSpPr>
        <p:spPr>
          <a:xfrm>
            <a:off x="8322800" y="2360000"/>
            <a:ext cx="580000" cy="58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FFFDF7"/>
                </a:solidFill>
                <a:latin typeface="DM Sans" pitchFamily="34" charset="0"/>
                <a:ea typeface="DM Sans" pitchFamily="34" charset="-122"/>
                <a:cs typeface="DM Sans" pitchFamily="34" charset="-120"/>
              </a:rPr>
              <a:t>GPS</a:t>
            </a:r>
            <a:endParaRPr lang="es-EC" sz="1200" dirty="0"/>
          </a:p>
        </p:txBody>
      </p:sp>
      <p:sp>
        <p:nvSpPr>
          <p:cNvPr id="28" name="Nodo SCY"/>
          <p:cNvSpPr/>
          <p:nvPr/>
        </p:nvSpPr>
        <p:spPr>
          <a:xfrm>
            <a:off x="8872800" y="30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SCY</a:t>
            </a:r>
            <a:endParaRPr lang="es-EC" sz="1200" dirty="0"/>
          </a:p>
        </p:txBody>
      </p:sp>
      <p:sp>
        <p:nvSpPr>
          <p:cNvPr id="29" name="Nodo MRR"/>
          <p:cNvSpPr/>
          <p:nvPr/>
        </p:nvSpPr>
        <p:spPr>
          <a:xfrm>
            <a:off x="9422800" y="37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MRR</a:t>
            </a:r>
            <a:endParaRPr lang="es-EC" sz="1200" dirty="0"/>
          </a:p>
        </p:txBody>
      </p:sp>
      <p:sp>
        <p:nvSpPr>
          <p:cNvPr id="30" name="Nodo PTZ"/>
          <p:cNvSpPr/>
          <p:nvPr/>
        </p:nvSpPr>
        <p:spPr>
          <a:xfrm>
            <a:off x="9972800" y="44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PTZ</a:t>
            </a:r>
            <a:endParaRPr lang="es-EC" sz="1200" dirty="0"/>
          </a:p>
        </p:txBody>
      </p:sp>
      <p:sp>
        <p:nvSpPr>
          <p:cNvPr id="31" name="Nodo TPN"/>
          <p:cNvSpPr/>
          <p:nvPr/>
        </p:nvSpPr>
        <p:spPr>
          <a:xfrm>
            <a:off x="10522800" y="51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TPN</a:t>
            </a:r>
            <a:endParaRPr lang="es-EC" sz="1200" dirty="0"/>
          </a:p>
        </p:txBody>
      </p:sp>
      <p:sp>
        <p:nvSpPr>
          <p:cNvPr id="32"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3"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15 / 17</a:t>
            </a:r>
            <a:endParaRPr lang="es-EC"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royec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EN SMARTETL_DS</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El árbol en nuestro proyecto final</a:t>
            </a:r>
            <a:endParaRPr lang="es-EC" sz="3200" dirty="0"/>
          </a:p>
        </p:txBody>
      </p:sp>
      <p:sp>
        <p:nvSpPr>
          <p:cNvPr id="4" name="Tarjeta HOY · HITO 1: LISTA"/>
          <p:cNvSpPr/>
          <p:nvPr/>
        </p:nvSpPr>
        <p:spPr>
          <a:xfrm>
            <a:off x="812800" y="1900000"/>
            <a:ext cx="5300000" cy="2080000"/>
          </a:xfrm>
          <a:prstGeom prst="roundRect">
            <a:avLst>
              <a:gd name="adj" fmla="val 6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Etiqueta HOY · HITO 1: LISTA"/>
          <p:cNvSpPr/>
          <p:nvPr/>
        </p:nvSpPr>
        <p:spPr>
          <a:xfrm>
            <a:off x="1062800" y="2050000"/>
            <a:ext cx="48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HOY · HITO 1: LISTA</a:t>
            </a:r>
            <a:endParaRPr lang="es-EC" sz="1300" dirty="0"/>
          </a:p>
        </p:txBody>
      </p:sp>
      <p:sp>
        <p:nvSpPr>
          <p:cNvPr id="6" name="Numero HOY · HITO 1: LISTA"/>
          <p:cNvSpPr/>
          <p:nvPr/>
        </p:nvSpPr>
        <p:spPr>
          <a:xfrm>
            <a:off x="1062800" y="2330000"/>
            <a:ext cx="4800000" cy="80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12261F"/>
                </a:solidFill>
                <a:latin typeface="DM Sans" pitchFamily="34" charset="0"/>
                <a:ea typeface="DM Sans" pitchFamily="34" charset="-122"/>
                <a:cs typeface="DM Sans" pitchFamily="34" charset="-120"/>
              </a:rPr>
              <a:t>7.698</a:t>
            </a:r>
            <a:endParaRPr lang="es-EC" sz="4400" dirty="0"/>
          </a:p>
        </p:txBody>
      </p:sp>
      <p:sp>
        <p:nvSpPr>
          <p:cNvPr id="7" name="Texto HOY · HITO 1: LISTA"/>
          <p:cNvSpPr/>
          <p:nvPr/>
        </p:nvSpPr>
        <p:spPr>
          <a:xfrm>
            <a:off x="1062800" y="3180000"/>
            <a:ext cx="48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comparaciones en mi conjunto de datos (aeropuertos) para buscar UKDM, el último de la lista.</a:t>
            </a:r>
            <a:endParaRPr lang="es-EC" sz="1500" dirty="0"/>
          </a:p>
        </p:txBody>
      </p:sp>
      <p:sp>
        <p:nvSpPr>
          <p:cNvPr id="8" name="Tarjeta 13 DE NOVIEMBRE · HITO 4A: ÁRBOL BST"/>
          <p:cNvSpPr/>
          <p:nvPr/>
        </p:nvSpPr>
        <p:spPr>
          <a:xfrm>
            <a:off x="6396192" y="1900000"/>
            <a:ext cx="5300000" cy="2080000"/>
          </a:xfrm>
          <a:prstGeom prst="roundRect">
            <a:avLst>
              <a:gd name="adj" fmla="val 6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Etiqueta 13 DE NOVIEMBRE · HITO 4A: ÁRBOL BST"/>
          <p:cNvSpPr/>
          <p:nvPr/>
        </p:nvSpPr>
        <p:spPr>
          <a:xfrm>
            <a:off x="6646192" y="2050000"/>
            <a:ext cx="48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13 DE NOVIEMBRE · HITO 4A: ÁRBOL BST</a:t>
            </a:r>
            <a:endParaRPr lang="es-EC" sz="1300" dirty="0"/>
          </a:p>
        </p:txBody>
      </p:sp>
      <p:sp>
        <p:nvSpPr>
          <p:cNvPr id="10" name="Numero 13 DE NOVIEMBRE · HITO 4A: ÁRBOL BST"/>
          <p:cNvSpPr/>
          <p:nvPr/>
        </p:nvSpPr>
        <p:spPr>
          <a:xfrm>
            <a:off x="6646192" y="2330000"/>
            <a:ext cx="4800000" cy="80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1F7A66"/>
                </a:solidFill>
                <a:latin typeface="DM Sans" pitchFamily="34" charset="0"/>
                <a:ea typeface="DM Sans" pitchFamily="34" charset="-122"/>
                <a:cs typeface="DM Sans" pitchFamily="34" charset="-120"/>
              </a:rPr>
              <a:t>≈ 13</a:t>
            </a:r>
            <a:endParaRPr lang="es-EC" sz="4400" dirty="0"/>
          </a:p>
        </p:txBody>
      </p:sp>
      <p:sp>
        <p:nvSpPr>
          <p:cNvPr id="11" name="Texto 13 DE NOVIEMBRE · HITO 4A: ÁRBOL BST"/>
          <p:cNvSpPr/>
          <p:nvPr/>
        </p:nvSpPr>
        <p:spPr>
          <a:xfrm>
            <a:off x="6646192" y="3180000"/>
            <a:ext cx="48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comparaciones como máximo con un árbol equilibrado, usando el ID como clave.</a:t>
            </a:r>
            <a:endParaRPr lang="es-EC" sz="1500" dirty="0"/>
          </a:p>
        </p:txBody>
      </p:sp>
      <p:sp>
        <p:nvSpPr>
          <p:cNvPr id="12" name="Etiqueta nodo lista"/>
          <p:cNvSpPr/>
          <p:nvPr/>
        </p:nvSpPr>
        <p:spPr>
          <a:xfrm>
            <a:off x="812800" y="4250000"/>
            <a:ext cx="5300000" cy="300000"/>
          </a:xfrm>
          <a:prstGeom prst="rect">
            <a:avLst/>
          </a:prstGeom>
          <a:noFill/>
          <a:ln/>
        </p:spPr>
        <p:txBody>
          <a:bodyPr wrap="square" lIns="0" tIns="0" rIns="0" bIns="0" rtlCol="0" anchor="t">
            <a:normAutofit/>
          </a:bodyPr>
          <a:lstStyle/>
          <a:p>
            <a:pPr algn="l" indent="0" marL="0">
              <a:lnSpc>
                <a:spcPts val="2100"/>
              </a:lnSpc>
              <a:buNone/>
            </a:pPr>
            <a:r>
              <a:rPr lang="es-EC" sz="1500" b="1" dirty="0">
                <a:solidFill>
                  <a:srgbClr val="12261F"/>
                </a:solidFill>
                <a:latin typeface="DM Sans" pitchFamily="34" charset="0"/>
                <a:ea typeface="DM Sans" pitchFamily="34" charset="-122"/>
                <a:cs typeface="DM Sans" pitchFamily="34" charset="-120"/>
              </a:rPr>
              <a:t>Nodo de la lista: un enlace</a:t>
            </a:r>
            <a:endParaRPr lang="es-EC" sz="1500" dirty="0"/>
          </a:p>
        </p:txBody>
      </p:sp>
      <p:sp>
        <p:nvSpPr>
          <p:cNvPr id="13" name="Campo dato"/>
          <p:cNvSpPr/>
          <p:nvPr/>
        </p:nvSpPr>
        <p:spPr>
          <a:xfrm>
            <a:off x="812800" y="4600000"/>
            <a:ext cx="1300000" cy="6000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FFFDF7"/>
                </a:solidFill>
                <a:latin typeface="DM Sans" pitchFamily="34" charset="0"/>
                <a:ea typeface="DM Sans" pitchFamily="34" charset="-122"/>
                <a:cs typeface="DM Sans" pitchFamily="34" charset="-120"/>
              </a:rPr>
              <a:t>dato</a:t>
            </a:r>
            <a:endParaRPr lang="es-EC" sz="1700" dirty="0"/>
          </a:p>
        </p:txBody>
      </p:sp>
      <p:sp>
        <p:nvSpPr>
          <p:cNvPr id="14" name="Campo siguiente"/>
          <p:cNvSpPr/>
          <p:nvPr/>
        </p:nvSpPr>
        <p:spPr>
          <a:xfrm>
            <a:off x="2112800"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siguiente</a:t>
            </a:r>
            <a:endParaRPr lang="es-EC" sz="1700" dirty="0"/>
          </a:p>
        </p:txBody>
      </p:sp>
      <p:sp>
        <p:nvSpPr>
          <p:cNvPr id="15" name="Etiqueta nodo arbol"/>
          <p:cNvSpPr/>
          <p:nvPr/>
        </p:nvSpPr>
        <p:spPr>
          <a:xfrm>
            <a:off x="6396192" y="4250000"/>
            <a:ext cx="5300000" cy="300000"/>
          </a:xfrm>
          <a:prstGeom prst="rect">
            <a:avLst/>
          </a:prstGeom>
          <a:noFill/>
          <a:ln/>
        </p:spPr>
        <p:txBody>
          <a:bodyPr wrap="square" lIns="0" tIns="0" rIns="0" bIns="0" rtlCol="0" anchor="t">
            <a:normAutofit/>
          </a:bodyPr>
          <a:lstStyle/>
          <a:p>
            <a:pPr algn="l" indent="0" marL="0">
              <a:lnSpc>
                <a:spcPts val="2100"/>
              </a:lnSpc>
              <a:buNone/>
            </a:pPr>
            <a:r>
              <a:rPr lang="es-EC" sz="1500" b="1" dirty="0">
                <a:solidFill>
                  <a:srgbClr val="12261F"/>
                </a:solidFill>
                <a:latin typeface="DM Sans" pitchFamily="34" charset="0"/>
                <a:ea typeface="DM Sans" pitchFamily="34" charset="-122"/>
                <a:cs typeface="DM Sans" pitchFamily="34" charset="-120"/>
              </a:rPr>
              <a:t>Nodo del árbol: dos enlaces</a:t>
            </a:r>
            <a:endParaRPr lang="es-EC" sz="1500" dirty="0"/>
          </a:p>
        </p:txBody>
      </p:sp>
      <p:sp>
        <p:nvSpPr>
          <p:cNvPr id="16" name="Campo dato"/>
          <p:cNvSpPr/>
          <p:nvPr/>
        </p:nvSpPr>
        <p:spPr>
          <a:xfrm>
            <a:off x="6396192" y="4600000"/>
            <a:ext cx="1300000" cy="6000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FFFDF7"/>
                </a:solidFill>
                <a:latin typeface="DM Sans" pitchFamily="34" charset="0"/>
                <a:ea typeface="DM Sans" pitchFamily="34" charset="-122"/>
                <a:cs typeface="DM Sans" pitchFamily="34" charset="-120"/>
              </a:rPr>
              <a:t>dato</a:t>
            </a:r>
            <a:endParaRPr lang="es-EC" sz="1700" dirty="0"/>
          </a:p>
        </p:txBody>
      </p:sp>
      <p:sp>
        <p:nvSpPr>
          <p:cNvPr id="17" name="Campo izquierdo"/>
          <p:cNvSpPr/>
          <p:nvPr/>
        </p:nvSpPr>
        <p:spPr>
          <a:xfrm>
            <a:off x="7696192"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izquierdo</a:t>
            </a:r>
            <a:endParaRPr lang="es-EC" sz="1700" dirty="0"/>
          </a:p>
        </p:txBody>
      </p:sp>
      <p:sp>
        <p:nvSpPr>
          <p:cNvPr id="18" name="Campo derecho"/>
          <p:cNvSpPr/>
          <p:nvPr/>
        </p:nvSpPr>
        <p:spPr>
          <a:xfrm>
            <a:off x="8996192"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derecho</a:t>
            </a:r>
            <a:endParaRPr lang="es-EC" sz="1700" dirty="0"/>
          </a:p>
        </p:txBody>
      </p:sp>
      <p:sp>
        <p:nvSpPr>
          <p:cNvPr id="19" name="Mensaje"/>
          <p:cNvSpPr/>
          <p:nvPr/>
        </p:nvSpPr>
        <p:spPr>
          <a:xfrm>
            <a:off x="812800" y="5500000"/>
            <a:ext cx="10883392" cy="60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Es la misma idea que ya programamos: un nodo guarda un dato y enlaces. El árbol usa dos enlaces en vez de uno.</a:t>
            </a:r>
            <a:endParaRPr lang="es-EC" sz="1500" dirty="0"/>
          </a:p>
        </p:txBody>
      </p:sp>
      <p:sp>
        <p:nvSpPr>
          <p:cNvPr id="20"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21"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16 / 17</a:t>
            </a:r>
            <a:endParaRPr lang="es-EC"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122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3A33B"/>
                </a:solidFill>
                <a:latin typeface="DM Sans" pitchFamily="34" charset="0"/>
                <a:ea typeface="DM Sans" pitchFamily="34" charset="-122"/>
                <a:cs typeface="DM Sans" pitchFamily="34" charset="-120"/>
              </a:rPr>
              <a:t>CIERRE</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C"/>
                </a:solidFill>
                <a:latin typeface="DM Sans" pitchFamily="34" charset="0"/>
                <a:ea typeface="DM Sans" pitchFamily="34" charset="-122"/>
                <a:cs typeface="DM Sans" pitchFamily="34" charset="-120"/>
              </a:rPr>
              <a:t>Resumen</a:t>
            </a:r>
            <a:endParaRPr lang="en-US" sz="3200" dirty="0"/>
          </a:p>
        </p:txBody>
      </p:sp>
      <p:sp>
        <p:nvSpPr>
          <p:cNvPr id="4" name="Shape 2"/>
          <p:cNvSpPr/>
          <p:nvPr/>
        </p:nvSpPr>
        <p:spPr>
          <a:xfrm>
            <a:off x="819150" y="2038350"/>
            <a:ext cx="3373934" cy="1932781"/>
          </a:xfrm>
          <a:prstGeom prst="roundRect">
            <a:avLst>
              <a:gd name="adj" fmla="val 7556"/>
            </a:avLst>
          </a:prstGeom>
          <a:solidFill>
            <a:srgbClr val="1C3A31"/>
          </a:solidFill>
          <a:ln w="12700">
            <a:solidFill>
              <a:srgbClr val="2D5546"/>
            </a:solidFill>
            <a:prstDash val="solid"/>
          </a:ln>
        </p:spPr>
        <p:txBody>
          <a:bodyPr/>
          <a:p/>
        </p:txBody>
      </p:sp>
      <p:sp>
        <p:nvSpPr>
          <p:cNvPr id="5" name="Text 3"/>
          <p:cNvSpPr/>
          <p:nvPr/>
        </p:nvSpPr>
        <p:spPr>
          <a:xfrm>
            <a:off x="1079500" y="2298700"/>
            <a:ext cx="29388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1</a:t>
            </a:r>
            <a:endParaRPr lang="en-US" sz="4800" dirty="0"/>
          </a:p>
        </p:txBody>
      </p:sp>
      <p:sp>
        <p:nvSpPr>
          <p:cNvPr id="6" name="Text 4"/>
          <p:cNvSpPr/>
          <p:nvPr/>
        </p:nvSpPr>
        <p:spPr>
          <a:xfrm>
            <a:off x="1079500" y="3035300"/>
            <a:ext cx="2938831"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Un árbol organiza datos con jerarquía.</a:t>
            </a:r>
            <a:endParaRPr lang="en-US" sz="1900" dirty="0"/>
          </a:p>
        </p:txBody>
      </p:sp>
      <p:sp>
        <p:nvSpPr>
          <p:cNvPr id="7" name="Shape 5"/>
          <p:cNvSpPr/>
          <p:nvPr/>
        </p:nvSpPr>
        <p:spPr>
          <a:xfrm>
            <a:off x="4408984" y="2038350"/>
            <a:ext cx="3374033" cy="1932781"/>
          </a:xfrm>
          <a:prstGeom prst="roundRect">
            <a:avLst>
              <a:gd name="adj" fmla="val 7556"/>
            </a:avLst>
          </a:prstGeom>
          <a:solidFill>
            <a:srgbClr val="1C3A31"/>
          </a:solidFill>
          <a:ln w="12700">
            <a:solidFill>
              <a:srgbClr val="2D5546"/>
            </a:solidFill>
            <a:prstDash val="solid"/>
          </a:ln>
        </p:spPr>
        <p:txBody>
          <a:bodyPr/>
          <a:p/>
        </p:txBody>
      </p:sp>
      <p:sp>
        <p:nvSpPr>
          <p:cNvPr id="8" name="Text 6"/>
          <p:cNvSpPr/>
          <p:nvPr/>
        </p:nvSpPr>
        <p:spPr>
          <a:xfrm>
            <a:off x="4669334" y="2298700"/>
            <a:ext cx="29389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2</a:t>
            </a:r>
            <a:endParaRPr lang="en-US" sz="4800" dirty="0"/>
          </a:p>
        </p:txBody>
      </p:sp>
      <p:sp>
        <p:nvSpPr>
          <p:cNvPr id="9" name="Text 7"/>
          <p:cNvSpPr/>
          <p:nvPr/>
        </p:nvSpPr>
        <p:spPr>
          <a:xfrm>
            <a:off x="4669334" y="3035300"/>
            <a:ext cx="2938933"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La raíz no tiene padre y las hojas no tienen hijos.</a:t>
            </a:r>
            <a:endParaRPr lang="en-US" sz="1900" dirty="0"/>
          </a:p>
        </p:txBody>
      </p:sp>
      <p:sp>
        <p:nvSpPr>
          <p:cNvPr id="10" name="Shape 8"/>
          <p:cNvSpPr/>
          <p:nvPr/>
        </p:nvSpPr>
        <p:spPr>
          <a:xfrm>
            <a:off x="7998916" y="2038350"/>
            <a:ext cx="3373934" cy="1932781"/>
          </a:xfrm>
          <a:prstGeom prst="roundRect">
            <a:avLst>
              <a:gd name="adj" fmla="val 7556"/>
            </a:avLst>
          </a:prstGeom>
          <a:solidFill>
            <a:srgbClr val="1C3A31"/>
          </a:solidFill>
          <a:ln w="12700">
            <a:solidFill>
              <a:srgbClr val="2D5546"/>
            </a:solidFill>
            <a:prstDash val="solid"/>
          </a:ln>
        </p:spPr>
        <p:txBody>
          <a:bodyPr/>
          <a:p/>
        </p:txBody>
      </p:sp>
      <p:sp>
        <p:nvSpPr>
          <p:cNvPr id="11" name="Text 9"/>
          <p:cNvSpPr/>
          <p:nvPr/>
        </p:nvSpPr>
        <p:spPr>
          <a:xfrm>
            <a:off x="8259266" y="2298700"/>
            <a:ext cx="29388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3</a:t>
            </a:r>
            <a:endParaRPr lang="en-US" sz="4800" dirty="0"/>
          </a:p>
        </p:txBody>
      </p:sp>
      <p:sp>
        <p:nvSpPr>
          <p:cNvPr id="12" name="Text 10"/>
          <p:cNvSpPr/>
          <p:nvPr/>
        </p:nvSpPr>
        <p:spPr>
          <a:xfrm>
            <a:off x="8259266" y="3035300"/>
            <a:ext cx="2938831"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El árbol binario usa dos enlaces por nodo.</a:t>
            </a:r>
            <a:endParaRPr lang="en-US" sz="1900" dirty="0"/>
          </a:p>
        </p:txBody>
      </p:sp>
      <p:sp>
        <p:nvSpPr>
          <p:cNvPr id="13" name="Text 11"/>
          <p:cNvSpPr/>
          <p:nvPr/>
        </p:nvSpPr>
        <p:spPr>
          <a:xfrm>
            <a:off x="812800" y="5080000"/>
            <a:ext cx="7848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FD3CB"/>
                </a:solidFill>
                <a:latin typeface="DM Sans" pitchFamily="34" charset="0"/>
                <a:ea typeface="DM Sans" pitchFamily="34" charset="-122"/>
                <a:cs typeface="DM Sans" pitchFamily="34" charset="-120"/>
              </a:rPr>
              <a:t>¿Dudas o preguntas?</a:t>
            </a:r>
            <a:endParaRPr lang="en-US" sz="20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5AC"/>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B5AC"/>
                </a:solidFill>
                <a:latin typeface="DM Sans" pitchFamily="34" charset="0"/>
                <a:ea typeface="DM Sans" pitchFamily="34" charset="-122"/>
                <a:cs typeface="DM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Introducción a los árboles: Grupo 1">
  <a:themeElements>
    <a:clrScheme name="Introducción a los árboles: Grupo 1">
      <a:dk1>
        <a:srgbClr val="12261F"/>
      </a:dk1>
      <a:lt1>
        <a:srgbClr val="F6F4EC"/>
      </a:lt1>
      <a:dk2>
        <a:srgbClr val="4B5A52"/>
      </a:dk2>
      <a:lt2>
        <a:srgbClr val="DFDFD8"/>
      </a:lt2>
      <a:accent1>
        <a:srgbClr val="1F7A66"/>
      </a:accent1>
      <a:accent2>
        <a:srgbClr val="E3A33B"/>
      </a:accent2>
      <a:accent3>
        <a:srgbClr val="2D5546"/>
      </a:accent3>
      <a:accent4>
        <a:srgbClr val="4A5A54"/>
      </a:accent4>
      <a:accent5>
        <a:srgbClr val="5A6A64"/>
      </a:accent5>
      <a:accent6>
        <a:srgbClr val="BFD3CB"/>
      </a:accent6>
      <a:hlink>
        <a:srgbClr val="0563C1"/>
      </a:hlink>
      <a:folHlink>
        <a:srgbClr val="954F72"/>
      </a:folHlink>
    </a:clrScheme>
    <a:fontScheme name="Introducción a los árboles: Grupo 1">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los árboles: Grupo 1</dc:title>
  <dc:subject/>
  <dc:creator/>
  <cp:lastModifiedBy/>
  <cp:revision>1</cp:revision>
  <dcterms:created xsi:type="dcterms:W3CDTF">2026-10-05T17:11:02Z</dcterms:created>
  <dcterms:modified xsi:type="dcterms:W3CDTF">2026-10-05T17:11:02Z</dcterms:modified>
</cp:coreProperties>
</file>